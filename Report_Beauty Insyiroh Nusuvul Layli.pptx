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Barlow Condensed Bold" charset="1" panose="00000806000000000000"/>
      <p:regular r:id="rId17"/>
    </p:embeddedFont>
    <p:embeddedFont>
      <p:font typeface="Inter Semi-Bold" charset="1" panose="02000503000000020004"/>
      <p:regular r:id="rId18"/>
    </p:embeddedFont>
    <p:embeddedFont>
      <p:font typeface="Inter" charset="1" panose="020B0502030000000004"/>
      <p:regular r:id="rId19"/>
    </p:embeddedFont>
    <p:embeddedFont>
      <p:font typeface="Anantason Condensed Bold" charset="1" panose="00000000000000000000"/>
      <p:regular r:id="rId20"/>
    </p:embeddedFont>
    <p:embeddedFont>
      <p:font typeface="Anantason Condense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https://www.kaggle.com/code/aabdollahii/crypto-price-pred-eda/input"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Freeform 2" id="2"/>
          <p:cNvSpPr/>
          <p:nvPr/>
        </p:nvSpPr>
        <p:spPr>
          <a:xfrm flipH="false" flipV="false" rot="0">
            <a:off x="7883430" y="-3037040"/>
            <a:ext cx="14235888" cy="10896925"/>
          </a:xfrm>
          <a:custGeom>
            <a:avLst/>
            <a:gdLst/>
            <a:ahLst/>
            <a:cxnLst/>
            <a:rect r="r" b="b" t="t" l="l"/>
            <a:pathLst>
              <a:path h="10896925" w="14235888">
                <a:moveTo>
                  <a:pt x="0" y="0"/>
                </a:moveTo>
                <a:lnTo>
                  <a:pt x="14235888" y="0"/>
                </a:lnTo>
                <a:lnTo>
                  <a:pt x="14235888" y="10896925"/>
                </a:lnTo>
                <a:lnTo>
                  <a:pt x="0" y="10896925"/>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16756">
            <a:off x="13268680" y="8375358"/>
            <a:ext cx="5363774" cy="4534827"/>
          </a:xfrm>
          <a:custGeom>
            <a:avLst/>
            <a:gdLst/>
            <a:ahLst/>
            <a:cxnLst/>
            <a:rect r="r" b="b" t="t" l="l"/>
            <a:pathLst>
              <a:path h="4534827" w="5363774">
                <a:moveTo>
                  <a:pt x="0" y="0"/>
                </a:moveTo>
                <a:lnTo>
                  <a:pt x="5363774" y="0"/>
                </a:lnTo>
                <a:lnTo>
                  <a:pt x="5363774" y="4534827"/>
                </a:lnTo>
                <a:lnTo>
                  <a:pt x="0" y="4534827"/>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22145" y="1505402"/>
            <a:ext cx="2097217" cy="4606399"/>
            <a:chOff x="0" y="0"/>
            <a:chExt cx="2796289" cy="6141865"/>
          </a:xfrm>
        </p:grpSpPr>
        <p:sp>
          <p:nvSpPr>
            <p:cNvPr name="Freeform 5" id="5"/>
            <p:cNvSpPr/>
            <p:nvPr/>
          </p:nvSpPr>
          <p:spPr>
            <a:xfrm flipH="false" flipV="false" rot="0">
              <a:off x="0" y="0"/>
              <a:ext cx="2796289" cy="4483846"/>
            </a:xfrm>
            <a:custGeom>
              <a:avLst/>
              <a:gdLst/>
              <a:ahLst/>
              <a:cxnLst/>
              <a:rect r="r" b="b" t="t" l="l"/>
              <a:pathLst>
                <a:path h="4483846" w="2796289">
                  <a:moveTo>
                    <a:pt x="0" y="0"/>
                  </a:moveTo>
                  <a:lnTo>
                    <a:pt x="2796289" y="0"/>
                  </a:lnTo>
                  <a:lnTo>
                    <a:pt x="2796289" y="4483846"/>
                  </a:lnTo>
                  <a:lnTo>
                    <a:pt x="0" y="448384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1658020"/>
              <a:ext cx="2796289" cy="4483846"/>
            </a:xfrm>
            <a:custGeom>
              <a:avLst/>
              <a:gdLst/>
              <a:ahLst/>
              <a:cxnLst/>
              <a:rect r="r" b="b" t="t" l="l"/>
              <a:pathLst>
                <a:path h="4483846" w="2796289">
                  <a:moveTo>
                    <a:pt x="0" y="0"/>
                  </a:moveTo>
                  <a:lnTo>
                    <a:pt x="2796289" y="0"/>
                  </a:lnTo>
                  <a:lnTo>
                    <a:pt x="2796289" y="4483845"/>
                  </a:lnTo>
                  <a:lnTo>
                    <a:pt x="0" y="4483845"/>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grpSp>
      <p:sp>
        <p:nvSpPr>
          <p:cNvPr name="TextBox 7" id="7"/>
          <p:cNvSpPr txBox="true"/>
          <p:nvPr/>
        </p:nvSpPr>
        <p:spPr>
          <a:xfrm rot="0">
            <a:off x="2551439" y="2217413"/>
            <a:ext cx="11624673" cy="2905125"/>
          </a:xfrm>
          <a:prstGeom prst="rect">
            <a:avLst/>
          </a:prstGeom>
        </p:spPr>
        <p:txBody>
          <a:bodyPr anchor="t" rtlCol="false" tIns="0" lIns="0" bIns="0" rIns="0">
            <a:spAutoFit/>
          </a:bodyPr>
          <a:lstStyle/>
          <a:p>
            <a:pPr algn="l">
              <a:lnSpc>
                <a:spcPts val="11399"/>
              </a:lnSpc>
            </a:pPr>
            <a:r>
              <a:rPr lang="en-US" b="true" sz="9999" spc="-299">
                <a:solidFill>
                  <a:srgbClr val="007043"/>
                </a:solidFill>
                <a:latin typeface="Barlow Condensed Bold"/>
                <a:ea typeface="Barlow Condensed Bold"/>
                <a:cs typeface="Barlow Condensed Bold"/>
                <a:sym typeface="Barlow Condensed Bold"/>
              </a:rPr>
              <a:t>ANALISIS PREDIKSI HARGA CRYPTO</a:t>
            </a:r>
          </a:p>
        </p:txBody>
      </p:sp>
      <p:sp>
        <p:nvSpPr>
          <p:cNvPr name="TextBox 8" id="8"/>
          <p:cNvSpPr txBox="true"/>
          <p:nvPr/>
        </p:nvSpPr>
        <p:spPr>
          <a:xfrm rot="0">
            <a:off x="363272" y="9465792"/>
            <a:ext cx="4051456" cy="385482"/>
          </a:xfrm>
          <a:prstGeom prst="rect">
            <a:avLst/>
          </a:prstGeom>
        </p:spPr>
        <p:txBody>
          <a:bodyPr anchor="t" rtlCol="false" tIns="0" lIns="0" bIns="0" rIns="0">
            <a:spAutoFit/>
          </a:bodyPr>
          <a:lstStyle/>
          <a:p>
            <a:pPr algn="ctr">
              <a:lnSpc>
                <a:spcPts val="3122"/>
              </a:lnSpc>
              <a:spcBef>
                <a:spcPct val="0"/>
              </a:spcBef>
            </a:pPr>
            <a:r>
              <a:rPr lang="en-US" b="true" sz="2230">
                <a:solidFill>
                  <a:srgbClr val="007043"/>
                </a:solidFill>
                <a:latin typeface="Inter Semi-Bold"/>
                <a:ea typeface="Inter Semi-Bold"/>
                <a:cs typeface="Inter Semi-Bold"/>
                <a:sym typeface="Inter Semi-Bold"/>
              </a:rPr>
              <a:t>16 November 2026</a:t>
            </a:r>
          </a:p>
        </p:txBody>
      </p:sp>
      <p:sp>
        <p:nvSpPr>
          <p:cNvPr name="TextBox 9" id="9"/>
          <p:cNvSpPr txBox="true"/>
          <p:nvPr/>
        </p:nvSpPr>
        <p:spPr>
          <a:xfrm rot="0">
            <a:off x="2551439" y="5613440"/>
            <a:ext cx="5620681" cy="378095"/>
          </a:xfrm>
          <a:prstGeom prst="rect">
            <a:avLst/>
          </a:prstGeom>
        </p:spPr>
        <p:txBody>
          <a:bodyPr anchor="t" rtlCol="false" tIns="0" lIns="0" bIns="0" rIns="0">
            <a:spAutoFit/>
          </a:bodyPr>
          <a:lstStyle/>
          <a:p>
            <a:pPr algn="l">
              <a:lnSpc>
                <a:spcPts val="3122"/>
              </a:lnSpc>
              <a:spcBef>
                <a:spcPct val="0"/>
              </a:spcBef>
            </a:pPr>
            <a:r>
              <a:rPr lang="en-US" sz="2230">
                <a:solidFill>
                  <a:srgbClr val="434343"/>
                </a:solidFill>
                <a:latin typeface="Inter"/>
                <a:ea typeface="Inter"/>
                <a:cs typeface="Inter"/>
                <a:sym typeface="Inter"/>
              </a:rPr>
              <a:t>Beauty Insyiroh Nusuvul Layli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Freeform 2" id="2"/>
          <p:cNvSpPr/>
          <p:nvPr/>
        </p:nvSpPr>
        <p:spPr>
          <a:xfrm flipH="false" flipV="false" rot="0">
            <a:off x="3989488" y="277413"/>
            <a:ext cx="7442511" cy="8545681"/>
          </a:xfrm>
          <a:custGeom>
            <a:avLst/>
            <a:gdLst/>
            <a:ahLst/>
            <a:cxnLst/>
            <a:rect r="r" b="b" t="t" l="l"/>
            <a:pathLst>
              <a:path h="8545681" w="7442511">
                <a:moveTo>
                  <a:pt x="0" y="0"/>
                </a:moveTo>
                <a:lnTo>
                  <a:pt x="7442511" y="0"/>
                </a:lnTo>
                <a:lnTo>
                  <a:pt x="7442511" y="8545681"/>
                </a:lnTo>
                <a:lnTo>
                  <a:pt x="0" y="8545681"/>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2787572">
            <a:off x="-2353460" y="7005579"/>
            <a:ext cx="6397120" cy="5792301"/>
          </a:xfrm>
          <a:custGeom>
            <a:avLst/>
            <a:gdLst/>
            <a:ahLst/>
            <a:cxnLst/>
            <a:rect r="r" b="b" t="t" l="l"/>
            <a:pathLst>
              <a:path h="5792301" w="6397120">
                <a:moveTo>
                  <a:pt x="6397120" y="0"/>
                </a:moveTo>
                <a:lnTo>
                  <a:pt x="0" y="0"/>
                </a:lnTo>
                <a:lnTo>
                  <a:pt x="0" y="5792301"/>
                </a:lnTo>
                <a:lnTo>
                  <a:pt x="6397120" y="5792301"/>
                </a:lnTo>
                <a:lnTo>
                  <a:pt x="639712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05774" y="3321166"/>
            <a:ext cx="7304969" cy="1165806"/>
          </a:xfrm>
          <a:prstGeom prst="rect">
            <a:avLst/>
          </a:prstGeom>
        </p:spPr>
        <p:txBody>
          <a:bodyPr anchor="t" rtlCol="false" tIns="0" lIns="0" bIns="0" rIns="0">
            <a:spAutoFit/>
          </a:bodyPr>
          <a:lstStyle/>
          <a:p>
            <a:pPr algn="l">
              <a:lnSpc>
                <a:spcPts val="9128"/>
              </a:lnSpc>
            </a:pPr>
            <a:r>
              <a:rPr lang="en-US" b="true" sz="7937" spc="-238">
                <a:solidFill>
                  <a:srgbClr val="007043"/>
                </a:solidFill>
                <a:latin typeface="Anantason Condensed Bold"/>
                <a:ea typeface="Anantason Condensed Bold"/>
                <a:cs typeface="Anantason Condensed Bold"/>
                <a:sym typeface="Anantason Condensed Bold"/>
              </a:rPr>
              <a:t>PENDAHULUAN</a:t>
            </a:r>
          </a:p>
        </p:txBody>
      </p:sp>
      <p:grpSp>
        <p:nvGrpSpPr>
          <p:cNvPr name="Group 5" id="5"/>
          <p:cNvGrpSpPr/>
          <p:nvPr/>
        </p:nvGrpSpPr>
        <p:grpSpPr>
          <a:xfrm rot="0">
            <a:off x="7284023" y="277413"/>
            <a:ext cx="10188637" cy="3819033"/>
            <a:chOff x="0" y="0"/>
            <a:chExt cx="13584849" cy="5092044"/>
          </a:xfrm>
        </p:grpSpPr>
        <p:sp>
          <p:nvSpPr>
            <p:cNvPr name="Freeform 6" id="6"/>
            <p:cNvSpPr/>
            <p:nvPr/>
          </p:nvSpPr>
          <p:spPr>
            <a:xfrm flipH="false" flipV="false" rot="0">
              <a:off x="0" y="0"/>
              <a:ext cx="1315223" cy="1315223"/>
            </a:xfrm>
            <a:custGeom>
              <a:avLst/>
              <a:gdLst/>
              <a:ahLst/>
              <a:cxnLst/>
              <a:rect r="r" b="b" t="t" l="l"/>
              <a:pathLst>
                <a:path h="1315223" w="1315223">
                  <a:moveTo>
                    <a:pt x="0" y="0"/>
                  </a:moveTo>
                  <a:lnTo>
                    <a:pt x="1315223" y="0"/>
                  </a:lnTo>
                  <a:lnTo>
                    <a:pt x="1315223" y="1315223"/>
                  </a:lnTo>
                  <a:lnTo>
                    <a:pt x="0" y="13152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76787" y="279998"/>
              <a:ext cx="761650" cy="697878"/>
            </a:xfrm>
            <a:prstGeom prst="rect">
              <a:avLst/>
            </a:prstGeom>
          </p:spPr>
          <p:txBody>
            <a:bodyPr anchor="t" rtlCol="false" tIns="0" lIns="0" bIns="0" rIns="0">
              <a:spAutoFit/>
            </a:bodyPr>
            <a:lstStyle/>
            <a:p>
              <a:pPr algn="ctr">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01</a:t>
              </a:r>
            </a:p>
          </p:txBody>
        </p:sp>
        <p:sp>
          <p:nvSpPr>
            <p:cNvPr name="TextBox 8" id="8"/>
            <p:cNvSpPr txBox="true"/>
            <p:nvPr/>
          </p:nvSpPr>
          <p:spPr>
            <a:xfrm rot="0">
              <a:off x="2058495" y="-40267"/>
              <a:ext cx="9529666"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LATAR BELAKANG</a:t>
              </a:r>
            </a:p>
          </p:txBody>
        </p:sp>
        <p:sp>
          <p:nvSpPr>
            <p:cNvPr name="TextBox 9" id="9"/>
            <p:cNvSpPr txBox="true"/>
            <p:nvPr/>
          </p:nvSpPr>
          <p:spPr>
            <a:xfrm rot="0">
              <a:off x="2058495" y="962851"/>
              <a:ext cx="11526354" cy="4129193"/>
            </a:xfrm>
            <a:prstGeom prst="rect">
              <a:avLst/>
            </a:prstGeom>
          </p:spPr>
          <p:txBody>
            <a:bodyPr anchor="t" rtlCol="false" tIns="0" lIns="0" bIns="0" rIns="0">
              <a:spAutoFit/>
            </a:bodyPr>
            <a:lstStyle/>
            <a:p>
              <a:pPr algn="just">
                <a:lnSpc>
                  <a:spcPts val="3079"/>
                </a:lnSpc>
              </a:pPr>
              <a:r>
                <a:rPr lang="en-US" sz="2199">
                  <a:solidFill>
                    <a:srgbClr val="434343"/>
                  </a:solidFill>
                  <a:latin typeface="Inter"/>
                  <a:ea typeface="Inter"/>
                  <a:cs typeface="Inter"/>
                  <a:sym typeface="Inter"/>
                </a:rPr>
                <a:t>Crypto merupakan mata yang virtual yang keamanannya dijamin dengan kriptografi. Saat ini crypto sedang dugemari karena berbagai alasan, salah satunya karena aset digital yang tidak terikat oleh otoritas pusat. </a:t>
              </a:r>
            </a:p>
            <a:p>
              <a:pPr algn="just">
                <a:lnSpc>
                  <a:spcPts val="3079"/>
                </a:lnSpc>
                <a:spcBef>
                  <a:spcPct val="0"/>
                </a:spcBef>
              </a:pPr>
              <a:r>
                <a:rPr lang="en-US" sz="2199">
                  <a:solidFill>
                    <a:srgbClr val="434343"/>
                  </a:solidFill>
                  <a:latin typeface="Inter"/>
                  <a:ea typeface="Inter"/>
                  <a:cs typeface="Inter"/>
                  <a:sym typeface="Inter"/>
                </a:rPr>
                <a:t>Meskipun memiliki keuntungan, crypto merupakan aset yang sangat volatil, yaitu harga dapat naik atau turun drastis dalam waktu singkat. Sehingga, dibutuhkan analisa prediksi harga agar membantu menentukan kapan akan membeli dan menjual</a:t>
              </a:r>
            </a:p>
          </p:txBody>
        </p:sp>
      </p:grpSp>
      <p:grpSp>
        <p:nvGrpSpPr>
          <p:cNvPr name="Group 10" id="10"/>
          <p:cNvGrpSpPr/>
          <p:nvPr/>
        </p:nvGrpSpPr>
        <p:grpSpPr>
          <a:xfrm rot="0">
            <a:off x="7284023" y="4730040"/>
            <a:ext cx="10188637" cy="5381133"/>
            <a:chOff x="0" y="0"/>
            <a:chExt cx="13584849" cy="7174844"/>
          </a:xfrm>
        </p:grpSpPr>
        <p:sp>
          <p:nvSpPr>
            <p:cNvPr name="TextBox 11" id="11"/>
            <p:cNvSpPr txBox="true"/>
            <p:nvPr/>
          </p:nvSpPr>
          <p:spPr>
            <a:xfrm rot="0">
              <a:off x="276787" y="279998"/>
              <a:ext cx="761650" cy="698076"/>
            </a:xfrm>
            <a:prstGeom prst="rect">
              <a:avLst/>
            </a:prstGeom>
          </p:spPr>
          <p:txBody>
            <a:bodyPr anchor="t" rtlCol="false" tIns="0" lIns="0" bIns="0" rIns="0">
              <a:spAutoFit/>
            </a:bodyPr>
            <a:lstStyle/>
            <a:p>
              <a:pPr algn="ctr">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02</a:t>
              </a:r>
            </a:p>
          </p:txBody>
        </p:sp>
        <p:sp>
          <p:nvSpPr>
            <p:cNvPr name="TextBox 12" id="12"/>
            <p:cNvSpPr txBox="true"/>
            <p:nvPr/>
          </p:nvSpPr>
          <p:spPr>
            <a:xfrm rot="0">
              <a:off x="2058495" y="-40267"/>
              <a:ext cx="9529666"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RUMUSAN MASALAH</a:t>
              </a:r>
            </a:p>
          </p:txBody>
        </p:sp>
        <p:sp>
          <p:nvSpPr>
            <p:cNvPr name="Freeform 13" id="13"/>
            <p:cNvSpPr/>
            <p:nvPr/>
          </p:nvSpPr>
          <p:spPr>
            <a:xfrm flipH="false" flipV="false" rot="0">
              <a:off x="0" y="0"/>
              <a:ext cx="1315223" cy="1315223"/>
            </a:xfrm>
            <a:custGeom>
              <a:avLst/>
              <a:gdLst/>
              <a:ahLst/>
              <a:cxnLst/>
              <a:rect r="r" b="b" t="t" l="l"/>
              <a:pathLst>
                <a:path h="1315223" w="1315223">
                  <a:moveTo>
                    <a:pt x="0" y="0"/>
                  </a:moveTo>
                  <a:lnTo>
                    <a:pt x="1315223" y="0"/>
                  </a:lnTo>
                  <a:lnTo>
                    <a:pt x="1315223" y="1315223"/>
                  </a:lnTo>
                  <a:lnTo>
                    <a:pt x="0" y="13152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2058495" y="962851"/>
              <a:ext cx="11526354" cy="6211993"/>
            </a:xfrm>
            <a:prstGeom prst="rect">
              <a:avLst/>
            </a:prstGeom>
          </p:spPr>
          <p:txBody>
            <a:bodyPr anchor="t" rtlCol="false" tIns="0" lIns="0" bIns="0" rIns="0">
              <a:spAutoFit/>
            </a:bodyPr>
            <a:lstStyle/>
            <a:p>
              <a:pPr algn="just" marL="474979" indent="-237490" lvl="1">
                <a:lnSpc>
                  <a:spcPts val="3079"/>
                </a:lnSpc>
                <a:buAutoNum type="arabicPeriod" startAt="1"/>
              </a:pPr>
              <a:r>
                <a:rPr lang="en-US" sz="2199">
                  <a:solidFill>
                    <a:srgbClr val="434343"/>
                  </a:solidFill>
                  <a:latin typeface="Inter"/>
                  <a:ea typeface="Inter"/>
                  <a:cs typeface="Inter"/>
                  <a:sym typeface="Inter"/>
                </a:rPr>
                <a:t>bagaimana menentukan tren harga berdasarkan data close?</a:t>
              </a:r>
            </a:p>
            <a:p>
              <a:pPr algn="just" marL="474979" indent="-237490" lvl="1">
                <a:lnSpc>
                  <a:spcPts val="3079"/>
                </a:lnSpc>
                <a:buAutoNum type="arabicPeriod" startAt="1"/>
              </a:pPr>
              <a:r>
                <a:rPr lang="en-US" sz="2199">
                  <a:solidFill>
                    <a:srgbClr val="434343"/>
                  </a:solidFill>
                  <a:latin typeface="Inter"/>
                  <a:ea typeface="Inter"/>
                  <a:cs typeface="Inter"/>
                  <a:sym typeface="Inter"/>
                </a:rPr>
                <a:t>bagaimana mengatur risiko / volatilitas menggunakan data high-low?</a:t>
              </a:r>
            </a:p>
            <a:p>
              <a:pPr algn="just" marL="474979" indent="-237490" lvl="1">
                <a:lnSpc>
                  <a:spcPts val="3079"/>
                </a:lnSpc>
                <a:buAutoNum type="arabicPeriod" startAt="1"/>
              </a:pPr>
              <a:r>
                <a:rPr lang="en-US" sz="2199">
                  <a:solidFill>
                    <a:srgbClr val="434343"/>
                  </a:solidFill>
                  <a:latin typeface="Inter"/>
                  <a:ea typeface="Inter"/>
                  <a:cs typeface="Inter"/>
                  <a:sym typeface="Inter"/>
                </a:rPr>
                <a:t>indikator apa dari OHLC yang paling tepat untuk menentukan waktu beli / jual?</a:t>
              </a:r>
            </a:p>
            <a:p>
              <a:pPr algn="just" marL="474979" indent="-237490" lvl="1">
                <a:lnSpc>
                  <a:spcPts val="3079"/>
                </a:lnSpc>
                <a:buAutoNum type="arabicPeriod" startAt="1"/>
              </a:pPr>
              <a:r>
                <a:rPr lang="en-US" sz="2199">
                  <a:solidFill>
                    <a:srgbClr val="434343"/>
                  </a:solidFill>
                  <a:latin typeface="Inter"/>
                  <a:ea typeface="Inter"/>
                  <a:cs typeface="Inter"/>
                  <a:sym typeface="Inter"/>
                </a:rPr>
                <a:t>bagaimana membandingkan kinerja berbagai aset kripto dalam dataset?</a:t>
              </a:r>
            </a:p>
            <a:p>
              <a:pPr algn="just" marL="474979" indent="-237490" lvl="1">
                <a:lnSpc>
                  <a:spcPts val="3079"/>
                </a:lnSpc>
                <a:buAutoNum type="arabicPeriod" startAt="1"/>
              </a:pPr>
              <a:r>
                <a:rPr lang="en-US" sz="2199">
                  <a:solidFill>
                    <a:srgbClr val="434343"/>
                  </a:solidFill>
                  <a:latin typeface="Inter"/>
                  <a:ea typeface="Inter"/>
                  <a:cs typeface="Inter"/>
                  <a:sym typeface="Inter"/>
                </a:rPr>
                <a:t>metode apa yang bisa digunakan untuk menentukan level harga kunci?</a:t>
              </a:r>
            </a:p>
            <a:p>
              <a:pPr algn="just" marL="474979" indent="-237490" lvl="1">
                <a:lnSpc>
                  <a:spcPts val="3079"/>
                </a:lnSpc>
                <a:buAutoNum type="arabicPeriod" startAt="1"/>
              </a:pPr>
              <a:r>
                <a:rPr lang="en-US" sz="2199">
                  <a:solidFill>
                    <a:srgbClr val="434343"/>
                  </a:solidFill>
                  <a:latin typeface="Inter"/>
                  <a:ea typeface="Inter"/>
                  <a:cs typeface="Inter"/>
                  <a:sym typeface="Inter"/>
                </a:rPr>
                <a:t>Apakah ada korelasi antara aset kripto di jaringan berbeda?</a:t>
              </a:r>
            </a:p>
            <a:p>
              <a:pPr algn="just" marL="474979" indent="-237490" lvl="1">
                <a:lnSpc>
                  <a:spcPts val="3079"/>
                </a:lnSpc>
                <a:spcBef>
                  <a:spcPct val="0"/>
                </a:spcBef>
                <a:buAutoNum type="arabicPeriod" startAt="1"/>
              </a:pPr>
              <a:r>
                <a:rPr lang="en-US" sz="2199">
                  <a:solidFill>
                    <a:srgbClr val="434343"/>
                  </a:solidFill>
                  <a:latin typeface="Inter"/>
                  <a:ea typeface="Inter"/>
                  <a:cs typeface="Inter"/>
                  <a:sym typeface="Inter"/>
                </a:rPr>
                <a:t>Bagaimana menggunakan data OHLC untuk membuat model prediksi harga?</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Freeform 2" id="2"/>
          <p:cNvSpPr/>
          <p:nvPr/>
        </p:nvSpPr>
        <p:spPr>
          <a:xfrm flipH="false" flipV="false" rot="0">
            <a:off x="13592750" y="-1219935"/>
            <a:ext cx="6421610" cy="6589339"/>
          </a:xfrm>
          <a:custGeom>
            <a:avLst/>
            <a:gdLst/>
            <a:ahLst/>
            <a:cxnLst/>
            <a:rect r="r" b="b" t="t" l="l"/>
            <a:pathLst>
              <a:path h="6589339" w="6421610">
                <a:moveTo>
                  <a:pt x="0" y="0"/>
                </a:moveTo>
                <a:lnTo>
                  <a:pt x="6421610" y="0"/>
                </a:lnTo>
                <a:lnTo>
                  <a:pt x="6421610" y="6589339"/>
                </a:lnTo>
                <a:lnTo>
                  <a:pt x="0" y="6589339"/>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66800"/>
            <a:ext cx="12253161" cy="1218685"/>
          </a:xfrm>
          <a:prstGeom prst="rect">
            <a:avLst/>
          </a:prstGeom>
        </p:spPr>
        <p:txBody>
          <a:bodyPr anchor="t" rtlCol="false" tIns="0" lIns="0" bIns="0" rIns="0">
            <a:spAutoFit/>
          </a:bodyPr>
          <a:lstStyle/>
          <a:p>
            <a:pPr algn="l">
              <a:lnSpc>
                <a:spcPts val="9529"/>
              </a:lnSpc>
            </a:pPr>
            <a:r>
              <a:rPr lang="en-US" b="true" sz="8286" spc="-248">
                <a:solidFill>
                  <a:srgbClr val="007043"/>
                </a:solidFill>
                <a:latin typeface="Anantason Condensed Bold"/>
                <a:ea typeface="Anantason Condensed Bold"/>
                <a:cs typeface="Anantason Condensed Bold"/>
                <a:sym typeface="Anantason Condensed Bold"/>
              </a:rPr>
              <a:t>METODOLOGI</a:t>
            </a:r>
          </a:p>
        </p:txBody>
      </p:sp>
      <p:grpSp>
        <p:nvGrpSpPr>
          <p:cNvPr name="Group 4" id="4"/>
          <p:cNvGrpSpPr/>
          <p:nvPr/>
        </p:nvGrpSpPr>
        <p:grpSpPr>
          <a:xfrm rot="0">
            <a:off x="9144000" y="1028700"/>
            <a:ext cx="5716218" cy="2689076"/>
            <a:chOff x="0" y="0"/>
            <a:chExt cx="7621624" cy="3585435"/>
          </a:xfrm>
        </p:grpSpPr>
        <p:sp>
          <p:nvSpPr>
            <p:cNvPr name="TextBox 5" id="5"/>
            <p:cNvSpPr txBox="true"/>
            <p:nvPr/>
          </p:nvSpPr>
          <p:spPr>
            <a:xfrm rot="0">
              <a:off x="1517436" y="482924"/>
              <a:ext cx="6104188" cy="630343"/>
            </a:xfrm>
            <a:prstGeom prst="rect">
              <a:avLst/>
            </a:prstGeom>
          </p:spPr>
          <p:txBody>
            <a:bodyPr anchor="t" rtlCol="false" tIns="0" lIns="0" bIns="0" rIns="0">
              <a:spAutoFit/>
            </a:bodyPr>
            <a:lstStyle/>
            <a:p>
              <a:pPr algn="l">
                <a:lnSpc>
                  <a:spcPts val="3680"/>
                </a:lnSpc>
              </a:pPr>
              <a:r>
                <a:rPr lang="en-US" b="true" sz="3200" spc="-96">
                  <a:solidFill>
                    <a:srgbClr val="007043"/>
                  </a:solidFill>
                  <a:latin typeface="Anantason Condensed Bold"/>
                  <a:ea typeface="Anantason Condensed Bold"/>
                  <a:cs typeface="Anantason Condensed Bold"/>
                  <a:sym typeface="Anantason Condensed Bold"/>
                </a:rPr>
                <a:t>SUMBER DATA</a:t>
              </a:r>
            </a:p>
          </p:txBody>
        </p:sp>
        <p:sp>
          <p:nvSpPr>
            <p:cNvPr name="TextBox 6" id="6"/>
            <p:cNvSpPr txBox="true"/>
            <p:nvPr/>
          </p:nvSpPr>
          <p:spPr>
            <a:xfrm rot="0">
              <a:off x="0" y="38100"/>
              <a:ext cx="2217847" cy="1539042"/>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01</a:t>
              </a:r>
            </a:p>
          </p:txBody>
        </p:sp>
        <p:sp>
          <p:nvSpPr>
            <p:cNvPr name="TextBox 7" id="7"/>
            <p:cNvSpPr txBox="true"/>
            <p:nvPr/>
          </p:nvSpPr>
          <p:spPr>
            <a:xfrm rot="0">
              <a:off x="0" y="1539042"/>
              <a:ext cx="6011309" cy="2046393"/>
            </a:xfrm>
            <a:prstGeom prst="rect">
              <a:avLst/>
            </a:prstGeom>
          </p:spPr>
          <p:txBody>
            <a:bodyPr anchor="t" rtlCol="false" tIns="0" lIns="0" bIns="0" rIns="0">
              <a:spAutoFit/>
            </a:bodyPr>
            <a:lstStyle/>
            <a:p>
              <a:pPr algn="l">
                <a:lnSpc>
                  <a:spcPts val="3079"/>
                </a:lnSpc>
              </a:pPr>
              <a:r>
                <a:rPr lang="en-US" sz="2199">
                  <a:solidFill>
                    <a:srgbClr val="434343">
                      <a:alpha val="95686"/>
                    </a:srgbClr>
                  </a:solidFill>
                  <a:latin typeface="Inter"/>
                  <a:ea typeface="Inter"/>
                  <a:cs typeface="Inter"/>
                  <a:sym typeface="Inter"/>
                </a:rPr>
                <a:t>Data yang digunakan berasal dari Kaggle dengan sumber sebagai berikut:</a:t>
              </a:r>
            </a:p>
            <a:p>
              <a:pPr algn="l">
                <a:lnSpc>
                  <a:spcPts val="3079"/>
                </a:lnSpc>
                <a:spcBef>
                  <a:spcPct val="0"/>
                </a:spcBef>
              </a:pPr>
              <a:r>
                <a:rPr lang="en-US" sz="2199" u="sng">
                  <a:solidFill>
                    <a:srgbClr val="434343">
                      <a:alpha val="95686"/>
                    </a:srgbClr>
                  </a:solidFill>
                  <a:latin typeface="Inter"/>
                  <a:ea typeface="Inter"/>
                  <a:cs typeface="Inter"/>
                  <a:sym typeface="Inter"/>
                  <a:hlinkClick r:id="rId4" tooltip="https://www.kaggle.com/code/aabdollahii/crypto-price-pred-eda/input"/>
                </a:rPr>
                <a:t>Dataset</a:t>
              </a:r>
            </a:p>
          </p:txBody>
        </p:sp>
      </p:grpSp>
      <p:sp>
        <p:nvSpPr>
          <p:cNvPr name="Freeform 8" id="8"/>
          <p:cNvSpPr/>
          <p:nvPr/>
        </p:nvSpPr>
        <p:spPr>
          <a:xfrm flipH="false" flipV="false" rot="7071524">
            <a:off x="-2182105" y="7986186"/>
            <a:ext cx="6421610" cy="6589339"/>
          </a:xfrm>
          <a:custGeom>
            <a:avLst/>
            <a:gdLst/>
            <a:ahLst/>
            <a:cxnLst/>
            <a:rect r="r" b="b" t="t" l="l"/>
            <a:pathLst>
              <a:path h="6589339" w="6421610">
                <a:moveTo>
                  <a:pt x="0" y="0"/>
                </a:moveTo>
                <a:lnTo>
                  <a:pt x="6421610" y="0"/>
                </a:lnTo>
                <a:lnTo>
                  <a:pt x="6421610" y="6589339"/>
                </a:lnTo>
                <a:lnTo>
                  <a:pt x="0" y="6589339"/>
                </a:lnTo>
                <a:lnTo>
                  <a:pt x="0" y="0"/>
                </a:lnTo>
                <a:close/>
              </a:path>
            </a:pathLst>
          </a:custGeom>
          <a:blipFill>
            <a:blip r:embed="rId2">
              <a:alphaModFix amt="37000"/>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44054" y="4226074"/>
            <a:ext cx="7576007" cy="4641701"/>
            <a:chOff x="0" y="0"/>
            <a:chExt cx="10101342" cy="6188935"/>
          </a:xfrm>
        </p:grpSpPr>
        <p:sp>
          <p:nvSpPr>
            <p:cNvPr name="TextBox 10" id="10"/>
            <p:cNvSpPr txBox="true"/>
            <p:nvPr/>
          </p:nvSpPr>
          <p:spPr>
            <a:xfrm rot="0">
              <a:off x="2011139" y="482924"/>
              <a:ext cx="8090204" cy="630343"/>
            </a:xfrm>
            <a:prstGeom prst="rect">
              <a:avLst/>
            </a:prstGeom>
          </p:spPr>
          <p:txBody>
            <a:bodyPr anchor="t" rtlCol="false" tIns="0" lIns="0" bIns="0" rIns="0">
              <a:spAutoFit/>
            </a:bodyPr>
            <a:lstStyle/>
            <a:p>
              <a:pPr algn="l">
                <a:lnSpc>
                  <a:spcPts val="3680"/>
                </a:lnSpc>
              </a:pPr>
              <a:r>
                <a:rPr lang="en-US" b="true" sz="3200" spc="-96">
                  <a:solidFill>
                    <a:srgbClr val="007043"/>
                  </a:solidFill>
                  <a:latin typeface="Anantason Condensed Bold"/>
                  <a:ea typeface="Anantason Condensed Bold"/>
                  <a:cs typeface="Anantason Condensed Bold"/>
                  <a:sym typeface="Anantason Condensed Bold"/>
                </a:rPr>
                <a:t>STRUKTUR DATASET</a:t>
              </a:r>
            </a:p>
          </p:txBody>
        </p:sp>
        <p:sp>
          <p:nvSpPr>
            <p:cNvPr name="TextBox 11" id="11"/>
            <p:cNvSpPr txBox="true"/>
            <p:nvPr/>
          </p:nvSpPr>
          <p:spPr>
            <a:xfrm rot="0">
              <a:off x="0" y="38100"/>
              <a:ext cx="2939430" cy="1539240"/>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02</a:t>
              </a:r>
            </a:p>
          </p:txBody>
        </p:sp>
        <p:sp>
          <p:nvSpPr>
            <p:cNvPr name="TextBox 12" id="12"/>
            <p:cNvSpPr txBox="true"/>
            <p:nvPr/>
          </p:nvSpPr>
          <p:spPr>
            <a:xfrm rot="0">
              <a:off x="0" y="1539042"/>
              <a:ext cx="10101342" cy="4649893"/>
            </a:xfrm>
            <a:prstGeom prst="rect">
              <a:avLst/>
            </a:prstGeom>
          </p:spPr>
          <p:txBody>
            <a:bodyPr anchor="t" rtlCol="false" tIns="0" lIns="0" bIns="0" rIns="0">
              <a:spAutoFit/>
            </a:bodyPr>
            <a:lstStyle/>
            <a:p>
              <a:pPr algn="l">
                <a:lnSpc>
                  <a:spcPts val="3079"/>
                </a:lnSpc>
              </a:pPr>
              <a:r>
                <a:rPr lang="en-US" sz="2199">
                  <a:solidFill>
                    <a:srgbClr val="434343">
                      <a:alpha val="95686"/>
                    </a:srgbClr>
                  </a:solidFill>
                  <a:latin typeface="Inter"/>
                  <a:ea typeface="Inter"/>
                  <a:cs typeface="Inter"/>
                  <a:sym typeface="Inter"/>
                </a:rPr>
                <a:t>Dataset berisi 7 kolom dengan keterangan sebagai berikut:</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symbol: singkatan aset</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date: tanggal harga</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open: harga pembukaan</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high: harga tertinggi </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low: harga terendah</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close: harga penutupan</a:t>
              </a:r>
            </a:p>
            <a:p>
              <a:pPr algn="l" marL="474979" indent="-237490" lvl="1">
                <a:lnSpc>
                  <a:spcPts val="3079"/>
                </a:lnSpc>
                <a:spcBef>
                  <a:spcPct val="0"/>
                </a:spcBef>
                <a:buAutoNum type="arabicPeriod" startAt="1"/>
              </a:pPr>
              <a:r>
                <a:rPr lang="en-US" sz="2199">
                  <a:solidFill>
                    <a:srgbClr val="434343">
                      <a:alpha val="95686"/>
                    </a:srgbClr>
                  </a:solidFill>
                  <a:latin typeface="Inter"/>
                  <a:ea typeface="Inter"/>
                  <a:cs typeface="Inter"/>
                  <a:sym typeface="Inter"/>
                </a:rPr>
                <a:t>network: jaringan blockchain kripto beroperasi</a:t>
              </a:r>
            </a:p>
          </p:txBody>
        </p:sp>
      </p:grpSp>
      <p:sp>
        <p:nvSpPr>
          <p:cNvPr name="TextBox 13" id="13"/>
          <p:cNvSpPr txBox="true"/>
          <p:nvPr/>
        </p:nvSpPr>
        <p:spPr>
          <a:xfrm rot="0">
            <a:off x="10456328" y="4593029"/>
            <a:ext cx="6067653" cy="467995"/>
          </a:xfrm>
          <a:prstGeom prst="rect">
            <a:avLst/>
          </a:prstGeom>
        </p:spPr>
        <p:txBody>
          <a:bodyPr anchor="t" rtlCol="false" tIns="0" lIns="0" bIns="0" rIns="0">
            <a:spAutoFit/>
          </a:bodyPr>
          <a:lstStyle/>
          <a:p>
            <a:pPr algn="l">
              <a:lnSpc>
                <a:spcPts val="3680"/>
              </a:lnSpc>
            </a:pPr>
            <a:r>
              <a:rPr lang="en-US" b="true" sz="3200" spc="-96">
                <a:solidFill>
                  <a:srgbClr val="007043"/>
                </a:solidFill>
                <a:latin typeface="Anantason Condensed Bold"/>
                <a:ea typeface="Anantason Condensed Bold"/>
                <a:cs typeface="Anantason Condensed Bold"/>
                <a:sym typeface="Anantason Condensed Bold"/>
              </a:rPr>
              <a:t>ALAT DAN TEKNIK ANALISIS</a:t>
            </a:r>
          </a:p>
        </p:txBody>
      </p:sp>
      <p:grpSp>
        <p:nvGrpSpPr>
          <p:cNvPr name="Group 14" id="14"/>
          <p:cNvGrpSpPr/>
          <p:nvPr/>
        </p:nvGrpSpPr>
        <p:grpSpPr>
          <a:xfrm rot="0">
            <a:off x="8947974" y="4226074"/>
            <a:ext cx="7103090" cy="5032226"/>
            <a:chOff x="0" y="0"/>
            <a:chExt cx="9470787" cy="6709635"/>
          </a:xfrm>
        </p:grpSpPr>
        <p:sp>
          <p:nvSpPr>
            <p:cNvPr name="TextBox 15" id="15"/>
            <p:cNvSpPr txBox="true"/>
            <p:nvPr/>
          </p:nvSpPr>
          <p:spPr>
            <a:xfrm rot="0">
              <a:off x="0" y="38100"/>
              <a:ext cx="2939430" cy="1539240"/>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03</a:t>
              </a:r>
            </a:p>
          </p:txBody>
        </p:sp>
        <p:sp>
          <p:nvSpPr>
            <p:cNvPr name="TextBox 16" id="16"/>
            <p:cNvSpPr txBox="true"/>
            <p:nvPr/>
          </p:nvSpPr>
          <p:spPr>
            <a:xfrm rot="0">
              <a:off x="0" y="1539042"/>
              <a:ext cx="9470787" cy="5170593"/>
            </a:xfrm>
            <a:prstGeom prst="rect">
              <a:avLst/>
            </a:prstGeom>
          </p:spPr>
          <p:txBody>
            <a:bodyPr anchor="t" rtlCol="false" tIns="0" lIns="0" bIns="0" rIns="0">
              <a:spAutoFit/>
            </a:bodyPr>
            <a:lstStyle/>
            <a:p>
              <a:pPr algn="l">
                <a:lnSpc>
                  <a:spcPts val="3079"/>
                </a:lnSpc>
              </a:pPr>
              <a:r>
                <a:rPr lang="en-US" sz="2199">
                  <a:solidFill>
                    <a:srgbClr val="434343">
                      <a:alpha val="95686"/>
                    </a:srgbClr>
                  </a:solidFill>
                  <a:latin typeface="Inter"/>
                  <a:ea typeface="Inter"/>
                  <a:cs typeface="Inter"/>
                  <a:sym typeface="Inter"/>
                </a:rPr>
                <a:t>Analisis menggunakan Microsoft Excel dengan teknik sebagai berikut:</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 Statistik Deskriptif untuk memahami karakteristik harga tiap aset</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Line Chart untuk melihat analisis tren harga</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Bar Chart untuk analisis perbandingan aset</a:t>
              </a:r>
            </a:p>
            <a:p>
              <a:pPr algn="l" marL="474979" indent="-237490" lvl="1">
                <a:lnSpc>
                  <a:spcPts val="3079"/>
                </a:lnSpc>
                <a:buAutoNum type="arabicPeriod" startAt="1"/>
              </a:pPr>
              <a:r>
                <a:rPr lang="en-US" sz="2199">
                  <a:solidFill>
                    <a:srgbClr val="434343">
                      <a:alpha val="95686"/>
                    </a:srgbClr>
                  </a:solidFill>
                  <a:latin typeface="Inter"/>
                  <a:ea typeface="Inter"/>
                  <a:cs typeface="Inter"/>
                  <a:sym typeface="Inter"/>
                </a:rPr>
                <a:t>Analisis volatilitas untuk mengukur tingkat risiko tiap set</a:t>
              </a:r>
            </a:p>
            <a:p>
              <a:pPr algn="l" marL="474979" indent="-237490" lvl="1">
                <a:lnSpc>
                  <a:spcPts val="3079"/>
                </a:lnSpc>
                <a:spcBef>
                  <a:spcPct val="0"/>
                </a:spcBef>
                <a:buAutoNum type="arabicPeriod" startAt="1"/>
              </a:pPr>
              <a:r>
                <a:rPr lang="en-US" sz="2199">
                  <a:solidFill>
                    <a:srgbClr val="434343">
                      <a:alpha val="95686"/>
                    </a:srgbClr>
                  </a:solidFill>
                  <a:latin typeface="Inter"/>
                  <a:ea typeface="Inter"/>
                  <a:cs typeface="Inter"/>
                  <a:sym typeface="Inter"/>
                </a:rPr>
                <a:t>Analisis hubungan antar aset menggunakan Scatter Chart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AutoShape 2" id="2"/>
          <p:cNvSpPr/>
          <p:nvPr/>
        </p:nvSpPr>
        <p:spPr>
          <a:xfrm>
            <a:off x="0" y="1047750"/>
            <a:ext cx="18288000" cy="0"/>
          </a:xfrm>
          <a:prstGeom prst="line">
            <a:avLst/>
          </a:prstGeom>
          <a:ln cap="flat" w="9525">
            <a:solidFill>
              <a:srgbClr val="A6A6A6"/>
            </a:solidFill>
            <a:prstDash val="solid"/>
            <a:headEnd type="none" len="sm" w="sm"/>
            <a:tailEnd type="none" len="sm" w="sm"/>
          </a:ln>
        </p:spPr>
      </p:sp>
      <p:sp>
        <p:nvSpPr>
          <p:cNvPr name="AutoShape 3" id="3"/>
          <p:cNvSpPr/>
          <p:nvPr/>
        </p:nvSpPr>
        <p:spPr>
          <a:xfrm flipV="true">
            <a:off x="15178833" y="1244945"/>
            <a:ext cx="0" cy="2746787"/>
          </a:xfrm>
          <a:prstGeom prst="line">
            <a:avLst/>
          </a:prstGeom>
          <a:ln cap="flat" w="9525">
            <a:solidFill>
              <a:srgbClr val="A6A6A6"/>
            </a:solidFill>
            <a:prstDash val="solid"/>
            <a:headEnd type="none" len="sm" w="sm"/>
            <a:tailEnd type="none" len="sm" w="sm"/>
          </a:ln>
        </p:spPr>
      </p:sp>
      <p:sp>
        <p:nvSpPr>
          <p:cNvPr name="AutoShape 4" id="4"/>
          <p:cNvSpPr/>
          <p:nvPr/>
        </p:nvSpPr>
        <p:spPr>
          <a:xfrm flipV="true">
            <a:off x="640701" y="1028700"/>
            <a:ext cx="0" cy="2746787"/>
          </a:xfrm>
          <a:prstGeom prst="line">
            <a:avLst/>
          </a:prstGeom>
          <a:ln cap="flat" w="9525">
            <a:solidFill>
              <a:srgbClr val="A6A6A6"/>
            </a:solidFill>
            <a:prstDash val="solid"/>
            <a:headEnd type="none" len="sm" w="sm"/>
            <a:tailEnd type="none" len="sm" w="sm"/>
          </a:ln>
        </p:spPr>
      </p:sp>
      <p:sp>
        <p:nvSpPr>
          <p:cNvPr name="AutoShape 5" id="5"/>
          <p:cNvSpPr/>
          <p:nvPr/>
        </p:nvSpPr>
        <p:spPr>
          <a:xfrm flipV="true">
            <a:off x="17254538" y="3775487"/>
            <a:ext cx="0" cy="5482813"/>
          </a:xfrm>
          <a:prstGeom prst="line">
            <a:avLst/>
          </a:prstGeom>
          <a:ln cap="flat" w="9525">
            <a:solidFill>
              <a:srgbClr val="A6A6A6"/>
            </a:solidFill>
            <a:prstDash val="solid"/>
            <a:headEnd type="none" len="sm" w="sm"/>
            <a:tailEnd type="none" len="sm" w="sm"/>
          </a:ln>
        </p:spPr>
      </p:sp>
      <p:sp>
        <p:nvSpPr>
          <p:cNvPr name="AutoShape 6" id="6"/>
          <p:cNvSpPr/>
          <p:nvPr/>
        </p:nvSpPr>
        <p:spPr>
          <a:xfrm>
            <a:off x="0" y="3775487"/>
            <a:ext cx="18288000" cy="0"/>
          </a:xfrm>
          <a:prstGeom prst="line">
            <a:avLst/>
          </a:prstGeom>
          <a:ln cap="flat" w="9525">
            <a:solidFill>
              <a:srgbClr val="999898"/>
            </a:solidFill>
            <a:prstDash val="solid"/>
            <a:headEnd type="none" len="sm" w="sm"/>
            <a:tailEnd type="none" len="sm" w="sm"/>
          </a:ln>
        </p:spPr>
      </p:sp>
      <p:sp>
        <p:nvSpPr>
          <p:cNvPr name="AutoShape 7" id="7"/>
          <p:cNvSpPr/>
          <p:nvPr/>
        </p:nvSpPr>
        <p:spPr>
          <a:xfrm>
            <a:off x="0" y="9253538"/>
            <a:ext cx="18288000" cy="0"/>
          </a:xfrm>
          <a:prstGeom prst="line">
            <a:avLst/>
          </a:prstGeom>
          <a:ln cap="flat" w="9525">
            <a:solidFill>
              <a:srgbClr val="A6A6A6"/>
            </a:solidFill>
            <a:prstDash val="solid"/>
            <a:headEnd type="none" len="sm" w="sm"/>
            <a:tailEnd type="none" len="sm" w="sm"/>
          </a:ln>
        </p:spPr>
      </p:sp>
      <p:sp>
        <p:nvSpPr>
          <p:cNvPr name="Freeform 8" id="8"/>
          <p:cNvSpPr/>
          <p:nvPr/>
        </p:nvSpPr>
        <p:spPr>
          <a:xfrm flipH="false" flipV="false" rot="0">
            <a:off x="15560263" y="1064081"/>
            <a:ext cx="2727737" cy="2727737"/>
          </a:xfrm>
          <a:custGeom>
            <a:avLst/>
            <a:gdLst/>
            <a:ahLst/>
            <a:cxnLst/>
            <a:rect r="r" b="b" t="t" l="l"/>
            <a:pathLst>
              <a:path h="2727737" w="2727737">
                <a:moveTo>
                  <a:pt x="0" y="0"/>
                </a:moveTo>
                <a:lnTo>
                  <a:pt x="2727737" y="0"/>
                </a:lnTo>
                <a:lnTo>
                  <a:pt x="2727737" y="2727737"/>
                </a:lnTo>
                <a:lnTo>
                  <a:pt x="0" y="272773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3970750"/>
            <a:ext cx="10077492" cy="5282788"/>
          </a:xfrm>
          <a:custGeom>
            <a:avLst/>
            <a:gdLst/>
            <a:ahLst/>
            <a:cxnLst/>
            <a:rect r="r" b="b" t="t" l="l"/>
            <a:pathLst>
              <a:path h="5282788" w="10077492">
                <a:moveTo>
                  <a:pt x="0" y="0"/>
                </a:moveTo>
                <a:lnTo>
                  <a:pt x="10077492" y="0"/>
                </a:lnTo>
                <a:lnTo>
                  <a:pt x="10077492" y="5282788"/>
                </a:lnTo>
                <a:lnTo>
                  <a:pt x="0" y="5282788"/>
                </a:lnTo>
                <a:lnTo>
                  <a:pt x="0" y="0"/>
                </a:lnTo>
                <a:close/>
              </a:path>
            </a:pathLst>
          </a:custGeom>
          <a:blipFill>
            <a:blip r:embed="rId4"/>
            <a:stretch>
              <a:fillRect l="0" t="0" r="0" b="0"/>
            </a:stretch>
          </a:blipFill>
        </p:spPr>
      </p:sp>
      <p:sp>
        <p:nvSpPr>
          <p:cNvPr name="TextBox 10" id="10"/>
          <p:cNvSpPr txBox="true"/>
          <p:nvPr/>
        </p:nvSpPr>
        <p:spPr>
          <a:xfrm rot="0">
            <a:off x="1028700" y="1283045"/>
            <a:ext cx="9903580" cy="1144905"/>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VISUALISASI DATA</a:t>
            </a:r>
          </a:p>
        </p:txBody>
      </p:sp>
      <p:sp>
        <p:nvSpPr>
          <p:cNvPr name="TextBox 11" id="11"/>
          <p:cNvSpPr txBox="true"/>
          <p:nvPr/>
        </p:nvSpPr>
        <p:spPr>
          <a:xfrm rot="0">
            <a:off x="10580216" y="4266102"/>
            <a:ext cx="6166836" cy="3106420"/>
          </a:xfrm>
          <a:prstGeom prst="rect">
            <a:avLst/>
          </a:prstGeom>
        </p:spPr>
        <p:txBody>
          <a:bodyPr anchor="t" rtlCol="false" tIns="0" lIns="0" bIns="0" rIns="0">
            <a:spAutoFit/>
          </a:bodyPr>
          <a:lstStyle/>
          <a:p>
            <a:pPr algn="just">
              <a:lnSpc>
                <a:spcPts val="3079"/>
              </a:lnSpc>
            </a:pPr>
            <a:r>
              <a:rPr lang="en-US" sz="2199">
                <a:solidFill>
                  <a:srgbClr val="434343"/>
                </a:solidFill>
                <a:latin typeface="Inter"/>
                <a:ea typeface="Inter"/>
                <a:cs typeface="Inter"/>
                <a:sym typeface="Inter"/>
              </a:rPr>
              <a:t>Grafik menunjukkan perbandingan statistik utama BTC, ETH, dan BNB. BTC memiliki rata-rata harga, median, volatilitas, dan range paling tinggi yang menunjukkan pergerakan harga yang lebih besar dibanding ETH dan BNB. Lalu, ketiga aset menunjukkan kecenderungan harga bergerak naik</a:t>
            </a:r>
          </a:p>
          <a:p>
            <a:pPr algn="just">
              <a:lnSpc>
                <a:spcPts val="307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AutoShape 2" id="2"/>
          <p:cNvSpPr/>
          <p:nvPr/>
        </p:nvSpPr>
        <p:spPr>
          <a:xfrm>
            <a:off x="0" y="1047750"/>
            <a:ext cx="18288000" cy="0"/>
          </a:xfrm>
          <a:prstGeom prst="line">
            <a:avLst/>
          </a:prstGeom>
          <a:ln cap="flat" w="9525">
            <a:solidFill>
              <a:srgbClr val="A6A6A6"/>
            </a:solidFill>
            <a:prstDash val="solid"/>
            <a:headEnd type="none" len="sm" w="sm"/>
            <a:tailEnd type="none" len="sm" w="sm"/>
          </a:ln>
        </p:spPr>
      </p:sp>
      <p:sp>
        <p:nvSpPr>
          <p:cNvPr name="AutoShape 3" id="3"/>
          <p:cNvSpPr/>
          <p:nvPr/>
        </p:nvSpPr>
        <p:spPr>
          <a:xfrm flipV="true">
            <a:off x="15178833" y="1244945"/>
            <a:ext cx="0" cy="2746787"/>
          </a:xfrm>
          <a:prstGeom prst="line">
            <a:avLst/>
          </a:prstGeom>
          <a:ln cap="flat" w="9525">
            <a:solidFill>
              <a:srgbClr val="A6A6A6"/>
            </a:solidFill>
            <a:prstDash val="solid"/>
            <a:headEnd type="none" len="sm" w="sm"/>
            <a:tailEnd type="none" len="sm" w="sm"/>
          </a:ln>
        </p:spPr>
      </p:sp>
      <p:sp>
        <p:nvSpPr>
          <p:cNvPr name="AutoShape 4" id="4"/>
          <p:cNvSpPr/>
          <p:nvPr/>
        </p:nvSpPr>
        <p:spPr>
          <a:xfrm flipV="true">
            <a:off x="640701" y="1028700"/>
            <a:ext cx="0" cy="2746787"/>
          </a:xfrm>
          <a:prstGeom prst="line">
            <a:avLst/>
          </a:prstGeom>
          <a:ln cap="flat" w="9525">
            <a:solidFill>
              <a:srgbClr val="A6A6A6"/>
            </a:solidFill>
            <a:prstDash val="solid"/>
            <a:headEnd type="none" len="sm" w="sm"/>
            <a:tailEnd type="none" len="sm" w="sm"/>
          </a:ln>
        </p:spPr>
      </p:sp>
      <p:sp>
        <p:nvSpPr>
          <p:cNvPr name="AutoShape 5" id="5"/>
          <p:cNvSpPr/>
          <p:nvPr/>
        </p:nvSpPr>
        <p:spPr>
          <a:xfrm flipV="true">
            <a:off x="17254538" y="3775487"/>
            <a:ext cx="0" cy="5482813"/>
          </a:xfrm>
          <a:prstGeom prst="line">
            <a:avLst/>
          </a:prstGeom>
          <a:ln cap="flat" w="9525">
            <a:solidFill>
              <a:srgbClr val="A6A6A6"/>
            </a:solidFill>
            <a:prstDash val="solid"/>
            <a:headEnd type="none" len="sm" w="sm"/>
            <a:tailEnd type="none" len="sm" w="sm"/>
          </a:ln>
        </p:spPr>
      </p:sp>
      <p:sp>
        <p:nvSpPr>
          <p:cNvPr name="AutoShape 6" id="6"/>
          <p:cNvSpPr/>
          <p:nvPr/>
        </p:nvSpPr>
        <p:spPr>
          <a:xfrm>
            <a:off x="0" y="3775487"/>
            <a:ext cx="18288000" cy="0"/>
          </a:xfrm>
          <a:prstGeom prst="line">
            <a:avLst/>
          </a:prstGeom>
          <a:ln cap="flat" w="9525">
            <a:solidFill>
              <a:srgbClr val="999898"/>
            </a:solidFill>
            <a:prstDash val="solid"/>
            <a:headEnd type="none" len="sm" w="sm"/>
            <a:tailEnd type="none" len="sm" w="sm"/>
          </a:ln>
        </p:spPr>
      </p:sp>
      <p:sp>
        <p:nvSpPr>
          <p:cNvPr name="AutoShape 7" id="7"/>
          <p:cNvSpPr/>
          <p:nvPr/>
        </p:nvSpPr>
        <p:spPr>
          <a:xfrm>
            <a:off x="0" y="9253538"/>
            <a:ext cx="18288000" cy="0"/>
          </a:xfrm>
          <a:prstGeom prst="line">
            <a:avLst/>
          </a:prstGeom>
          <a:ln cap="flat" w="9525">
            <a:solidFill>
              <a:srgbClr val="A6A6A6"/>
            </a:solidFill>
            <a:prstDash val="solid"/>
            <a:headEnd type="none" len="sm" w="sm"/>
            <a:tailEnd type="none" len="sm" w="sm"/>
          </a:ln>
        </p:spPr>
      </p:sp>
      <p:sp>
        <p:nvSpPr>
          <p:cNvPr name="Freeform 8" id="8"/>
          <p:cNvSpPr/>
          <p:nvPr/>
        </p:nvSpPr>
        <p:spPr>
          <a:xfrm flipH="false" flipV="false" rot="0">
            <a:off x="15560263" y="1064081"/>
            <a:ext cx="2727737" cy="2727737"/>
          </a:xfrm>
          <a:custGeom>
            <a:avLst/>
            <a:gdLst/>
            <a:ahLst/>
            <a:cxnLst/>
            <a:rect r="r" b="b" t="t" l="l"/>
            <a:pathLst>
              <a:path h="2727737" w="2727737">
                <a:moveTo>
                  <a:pt x="0" y="0"/>
                </a:moveTo>
                <a:lnTo>
                  <a:pt x="2727737" y="0"/>
                </a:lnTo>
                <a:lnTo>
                  <a:pt x="2727737" y="2727737"/>
                </a:lnTo>
                <a:lnTo>
                  <a:pt x="0" y="272773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3775487"/>
            <a:ext cx="9059440" cy="5461466"/>
          </a:xfrm>
          <a:custGeom>
            <a:avLst/>
            <a:gdLst/>
            <a:ahLst/>
            <a:cxnLst/>
            <a:rect r="r" b="b" t="t" l="l"/>
            <a:pathLst>
              <a:path h="5461466" w="9059440">
                <a:moveTo>
                  <a:pt x="0" y="0"/>
                </a:moveTo>
                <a:lnTo>
                  <a:pt x="9059440" y="0"/>
                </a:lnTo>
                <a:lnTo>
                  <a:pt x="9059440" y="5461466"/>
                </a:lnTo>
                <a:lnTo>
                  <a:pt x="0" y="5461466"/>
                </a:lnTo>
                <a:lnTo>
                  <a:pt x="0" y="0"/>
                </a:lnTo>
                <a:close/>
              </a:path>
            </a:pathLst>
          </a:custGeom>
          <a:blipFill>
            <a:blip r:embed="rId4"/>
            <a:stretch>
              <a:fillRect l="0" t="0" r="0" b="0"/>
            </a:stretch>
          </a:blipFill>
        </p:spPr>
      </p:sp>
      <p:sp>
        <p:nvSpPr>
          <p:cNvPr name="TextBox 10" id="10"/>
          <p:cNvSpPr txBox="true"/>
          <p:nvPr/>
        </p:nvSpPr>
        <p:spPr>
          <a:xfrm rot="0">
            <a:off x="1028700" y="1283045"/>
            <a:ext cx="9903580" cy="1144905"/>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VISUALISASI DATA</a:t>
            </a:r>
          </a:p>
        </p:txBody>
      </p:sp>
      <p:sp>
        <p:nvSpPr>
          <p:cNvPr name="TextBox 11" id="11"/>
          <p:cNvSpPr txBox="true"/>
          <p:nvPr/>
        </p:nvSpPr>
        <p:spPr>
          <a:xfrm rot="0">
            <a:off x="10484217" y="5105400"/>
            <a:ext cx="6166836" cy="1153795"/>
          </a:xfrm>
          <a:prstGeom prst="rect">
            <a:avLst/>
          </a:prstGeom>
        </p:spPr>
        <p:txBody>
          <a:bodyPr anchor="t" rtlCol="false" tIns="0" lIns="0" bIns="0" rIns="0">
            <a:spAutoFit/>
          </a:bodyPr>
          <a:lstStyle/>
          <a:p>
            <a:pPr algn="just">
              <a:lnSpc>
                <a:spcPts val="3079"/>
              </a:lnSpc>
              <a:spcBef>
                <a:spcPct val="0"/>
              </a:spcBef>
            </a:pPr>
            <a:r>
              <a:rPr lang="en-US" sz="2199">
                <a:solidFill>
                  <a:srgbClr val="434343"/>
                </a:solidFill>
                <a:latin typeface="Inter"/>
                <a:ea typeface="Inter"/>
                <a:cs typeface="Inter"/>
                <a:sym typeface="Inter"/>
              </a:rPr>
              <a:t>Grafik menunjukkan bahwa ketiga aset, yaitu BTC, ETH, dan BNB mengalami tren naik selama periode observasi.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AutoShape 2" id="2"/>
          <p:cNvSpPr/>
          <p:nvPr/>
        </p:nvSpPr>
        <p:spPr>
          <a:xfrm>
            <a:off x="0" y="1047750"/>
            <a:ext cx="18288000" cy="0"/>
          </a:xfrm>
          <a:prstGeom prst="line">
            <a:avLst/>
          </a:prstGeom>
          <a:ln cap="flat" w="9525">
            <a:solidFill>
              <a:srgbClr val="A6A6A6"/>
            </a:solidFill>
            <a:prstDash val="solid"/>
            <a:headEnd type="none" len="sm" w="sm"/>
            <a:tailEnd type="none" len="sm" w="sm"/>
          </a:ln>
        </p:spPr>
      </p:sp>
      <p:sp>
        <p:nvSpPr>
          <p:cNvPr name="AutoShape 3" id="3"/>
          <p:cNvSpPr/>
          <p:nvPr/>
        </p:nvSpPr>
        <p:spPr>
          <a:xfrm flipV="true">
            <a:off x="15178833" y="1244945"/>
            <a:ext cx="0" cy="2746787"/>
          </a:xfrm>
          <a:prstGeom prst="line">
            <a:avLst/>
          </a:prstGeom>
          <a:ln cap="flat" w="9525">
            <a:solidFill>
              <a:srgbClr val="A6A6A6"/>
            </a:solidFill>
            <a:prstDash val="solid"/>
            <a:headEnd type="none" len="sm" w="sm"/>
            <a:tailEnd type="none" len="sm" w="sm"/>
          </a:ln>
        </p:spPr>
      </p:sp>
      <p:sp>
        <p:nvSpPr>
          <p:cNvPr name="AutoShape 4" id="4"/>
          <p:cNvSpPr/>
          <p:nvPr/>
        </p:nvSpPr>
        <p:spPr>
          <a:xfrm flipV="true">
            <a:off x="640701" y="1028700"/>
            <a:ext cx="0" cy="2746787"/>
          </a:xfrm>
          <a:prstGeom prst="line">
            <a:avLst/>
          </a:prstGeom>
          <a:ln cap="flat" w="9525">
            <a:solidFill>
              <a:srgbClr val="A6A6A6"/>
            </a:solidFill>
            <a:prstDash val="solid"/>
            <a:headEnd type="none" len="sm" w="sm"/>
            <a:tailEnd type="none" len="sm" w="sm"/>
          </a:ln>
        </p:spPr>
      </p:sp>
      <p:sp>
        <p:nvSpPr>
          <p:cNvPr name="AutoShape 5" id="5"/>
          <p:cNvSpPr/>
          <p:nvPr/>
        </p:nvSpPr>
        <p:spPr>
          <a:xfrm flipV="true">
            <a:off x="17254538" y="3775487"/>
            <a:ext cx="0" cy="5482813"/>
          </a:xfrm>
          <a:prstGeom prst="line">
            <a:avLst/>
          </a:prstGeom>
          <a:ln cap="flat" w="9525">
            <a:solidFill>
              <a:srgbClr val="A6A6A6"/>
            </a:solidFill>
            <a:prstDash val="solid"/>
            <a:headEnd type="none" len="sm" w="sm"/>
            <a:tailEnd type="none" len="sm" w="sm"/>
          </a:ln>
        </p:spPr>
      </p:sp>
      <p:sp>
        <p:nvSpPr>
          <p:cNvPr name="AutoShape 6" id="6"/>
          <p:cNvSpPr/>
          <p:nvPr/>
        </p:nvSpPr>
        <p:spPr>
          <a:xfrm>
            <a:off x="0" y="3775487"/>
            <a:ext cx="18288000" cy="0"/>
          </a:xfrm>
          <a:prstGeom prst="line">
            <a:avLst/>
          </a:prstGeom>
          <a:ln cap="flat" w="9525">
            <a:solidFill>
              <a:srgbClr val="999898"/>
            </a:solidFill>
            <a:prstDash val="solid"/>
            <a:headEnd type="none" len="sm" w="sm"/>
            <a:tailEnd type="none" len="sm" w="sm"/>
          </a:ln>
        </p:spPr>
      </p:sp>
      <p:sp>
        <p:nvSpPr>
          <p:cNvPr name="AutoShape 7" id="7"/>
          <p:cNvSpPr/>
          <p:nvPr/>
        </p:nvSpPr>
        <p:spPr>
          <a:xfrm>
            <a:off x="0" y="9253538"/>
            <a:ext cx="18288000" cy="0"/>
          </a:xfrm>
          <a:prstGeom prst="line">
            <a:avLst/>
          </a:prstGeom>
          <a:ln cap="flat" w="9525">
            <a:solidFill>
              <a:srgbClr val="A6A6A6"/>
            </a:solidFill>
            <a:prstDash val="solid"/>
            <a:headEnd type="none" len="sm" w="sm"/>
            <a:tailEnd type="none" len="sm" w="sm"/>
          </a:ln>
        </p:spPr>
      </p:sp>
      <p:sp>
        <p:nvSpPr>
          <p:cNvPr name="Freeform 8" id="8"/>
          <p:cNvSpPr/>
          <p:nvPr/>
        </p:nvSpPr>
        <p:spPr>
          <a:xfrm flipH="false" flipV="false" rot="0">
            <a:off x="15560263" y="1064081"/>
            <a:ext cx="2727737" cy="2727737"/>
          </a:xfrm>
          <a:custGeom>
            <a:avLst/>
            <a:gdLst/>
            <a:ahLst/>
            <a:cxnLst/>
            <a:rect r="r" b="b" t="t" l="l"/>
            <a:pathLst>
              <a:path h="2727737" w="2727737">
                <a:moveTo>
                  <a:pt x="0" y="0"/>
                </a:moveTo>
                <a:lnTo>
                  <a:pt x="2727737" y="0"/>
                </a:lnTo>
                <a:lnTo>
                  <a:pt x="2727737" y="2727737"/>
                </a:lnTo>
                <a:lnTo>
                  <a:pt x="0" y="272773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3791818"/>
            <a:ext cx="9647336" cy="5461719"/>
          </a:xfrm>
          <a:custGeom>
            <a:avLst/>
            <a:gdLst/>
            <a:ahLst/>
            <a:cxnLst/>
            <a:rect r="r" b="b" t="t" l="l"/>
            <a:pathLst>
              <a:path h="5461719" w="9647336">
                <a:moveTo>
                  <a:pt x="0" y="0"/>
                </a:moveTo>
                <a:lnTo>
                  <a:pt x="9647336" y="0"/>
                </a:lnTo>
                <a:lnTo>
                  <a:pt x="9647336" y="5461720"/>
                </a:lnTo>
                <a:lnTo>
                  <a:pt x="0" y="5461720"/>
                </a:lnTo>
                <a:lnTo>
                  <a:pt x="0" y="0"/>
                </a:lnTo>
                <a:close/>
              </a:path>
            </a:pathLst>
          </a:custGeom>
          <a:blipFill>
            <a:blip r:embed="rId4"/>
            <a:stretch>
              <a:fillRect l="0" t="0" r="0" b="0"/>
            </a:stretch>
          </a:blipFill>
        </p:spPr>
      </p:sp>
      <p:sp>
        <p:nvSpPr>
          <p:cNvPr name="TextBox 10" id="10"/>
          <p:cNvSpPr txBox="true"/>
          <p:nvPr/>
        </p:nvSpPr>
        <p:spPr>
          <a:xfrm rot="0">
            <a:off x="1028700" y="1283045"/>
            <a:ext cx="9903580" cy="1144905"/>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VISUALISASI DATA</a:t>
            </a:r>
          </a:p>
        </p:txBody>
      </p:sp>
      <p:sp>
        <p:nvSpPr>
          <p:cNvPr name="TextBox 11" id="11"/>
          <p:cNvSpPr txBox="true"/>
          <p:nvPr/>
        </p:nvSpPr>
        <p:spPr>
          <a:xfrm rot="0">
            <a:off x="10365137" y="4547552"/>
            <a:ext cx="6166836" cy="1934845"/>
          </a:xfrm>
          <a:prstGeom prst="rect">
            <a:avLst/>
          </a:prstGeom>
        </p:spPr>
        <p:txBody>
          <a:bodyPr anchor="t" rtlCol="false" tIns="0" lIns="0" bIns="0" rIns="0">
            <a:spAutoFit/>
          </a:bodyPr>
          <a:lstStyle/>
          <a:p>
            <a:pPr algn="just">
              <a:lnSpc>
                <a:spcPts val="3079"/>
              </a:lnSpc>
              <a:spcBef>
                <a:spcPct val="0"/>
              </a:spcBef>
            </a:pPr>
            <a:r>
              <a:rPr lang="en-US" sz="2199">
                <a:solidFill>
                  <a:srgbClr val="434343"/>
                </a:solidFill>
                <a:latin typeface="Inter"/>
                <a:ea typeface="Inter"/>
                <a:cs typeface="Inter"/>
                <a:sym typeface="Inter"/>
              </a:rPr>
              <a:t>Grafik menunjukkan bahwa ETH dan BNB memiliki volatilitas harian yang lebih besar dibanding BTC, terlihat dari lonjakan return yang lebih tinggi dan fluktuasi yang lebih tajam.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AutoShape 2" id="2"/>
          <p:cNvSpPr/>
          <p:nvPr/>
        </p:nvSpPr>
        <p:spPr>
          <a:xfrm>
            <a:off x="0" y="1047750"/>
            <a:ext cx="18288000" cy="0"/>
          </a:xfrm>
          <a:prstGeom prst="line">
            <a:avLst/>
          </a:prstGeom>
          <a:ln cap="flat" w="9525">
            <a:solidFill>
              <a:srgbClr val="A6A6A6"/>
            </a:solidFill>
            <a:prstDash val="solid"/>
            <a:headEnd type="none" len="sm" w="sm"/>
            <a:tailEnd type="none" len="sm" w="sm"/>
          </a:ln>
        </p:spPr>
      </p:sp>
      <p:sp>
        <p:nvSpPr>
          <p:cNvPr name="AutoShape 3" id="3"/>
          <p:cNvSpPr/>
          <p:nvPr/>
        </p:nvSpPr>
        <p:spPr>
          <a:xfrm flipV="true">
            <a:off x="15178833" y="1244945"/>
            <a:ext cx="0" cy="2746787"/>
          </a:xfrm>
          <a:prstGeom prst="line">
            <a:avLst/>
          </a:prstGeom>
          <a:ln cap="flat" w="9525">
            <a:solidFill>
              <a:srgbClr val="A6A6A6"/>
            </a:solidFill>
            <a:prstDash val="solid"/>
            <a:headEnd type="none" len="sm" w="sm"/>
            <a:tailEnd type="none" len="sm" w="sm"/>
          </a:ln>
        </p:spPr>
      </p:sp>
      <p:sp>
        <p:nvSpPr>
          <p:cNvPr name="AutoShape 4" id="4"/>
          <p:cNvSpPr/>
          <p:nvPr/>
        </p:nvSpPr>
        <p:spPr>
          <a:xfrm flipV="true">
            <a:off x="640701" y="1028700"/>
            <a:ext cx="0" cy="2746787"/>
          </a:xfrm>
          <a:prstGeom prst="line">
            <a:avLst/>
          </a:prstGeom>
          <a:ln cap="flat" w="9525">
            <a:solidFill>
              <a:srgbClr val="A6A6A6"/>
            </a:solidFill>
            <a:prstDash val="solid"/>
            <a:headEnd type="none" len="sm" w="sm"/>
            <a:tailEnd type="none" len="sm" w="sm"/>
          </a:ln>
        </p:spPr>
      </p:sp>
      <p:sp>
        <p:nvSpPr>
          <p:cNvPr name="AutoShape 5" id="5"/>
          <p:cNvSpPr/>
          <p:nvPr/>
        </p:nvSpPr>
        <p:spPr>
          <a:xfrm flipV="true">
            <a:off x="17254538" y="3775487"/>
            <a:ext cx="0" cy="5482813"/>
          </a:xfrm>
          <a:prstGeom prst="line">
            <a:avLst/>
          </a:prstGeom>
          <a:ln cap="flat" w="9525">
            <a:solidFill>
              <a:srgbClr val="A6A6A6"/>
            </a:solidFill>
            <a:prstDash val="solid"/>
            <a:headEnd type="none" len="sm" w="sm"/>
            <a:tailEnd type="none" len="sm" w="sm"/>
          </a:ln>
        </p:spPr>
      </p:sp>
      <p:sp>
        <p:nvSpPr>
          <p:cNvPr name="AutoShape 6" id="6"/>
          <p:cNvSpPr/>
          <p:nvPr/>
        </p:nvSpPr>
        <p:spPr>
          <a:xfrm>
            <a:off x="0" y="3775487"/>
            <a:ext cx="18288000" cy="0"/>
          </a:xfrm>
          <a:prstGeom prst="line">
            <a:avLst/>
          </a:prstGeom>
          <a:ln cap="flat" w="9525">
            <a:solidFill>
              <a:srgbClr val="999898"/>
            </a:solidFill>
            <a:prstDash val="solid"/>
            <a:headEnd type="none" len="sm" w="sm"/>
            <a:tailEnd type="none" len="sm" w="sm"/>
          </a:ln>
        </p:spPr>
      </p:sp>
      <p:sp>
        <p:nvSpPr>
          <p:cNvPr name="AutoShape 7" id="7"/>
          <p:cNvSpPr/>
          <p:nvPr/>
        </p:nvSpPr>
        <p:spPr>
          <a:xfrm>
            <a:off x="0" y="9253538"/>
            <a:ext cx="18288000" cy="0"/>
          </a:xfrm>
          <a:prstGeom prst="line">
            <a:avLst/>
          </a:prstGeom>
          <a:ln cap="flat" w="9525">
            <a:solidFill>
              <a:srgbClr val="A6A6A6"/>
            </a:solidFill>
            <a:prstDash val="solid"/>
            <a:headEnd type="none" len="sm" w="sm"/>
            <a:tailEnd type="none" len="sm" w="sm"/>
          </a:ln>
        </p:spPr>
      </p:sp>
      <p:sp>
        <p:nvSpPr>
          <p:cNvPr name="Freeform 8" id="8"/>
          <p:cNvSpPr/>
          <p:nvPr/>
        </p:nvSpPr>
        <p:spPr>
          <a:xfrm flipH="false" flipV="false" rot="0">
            <a:off x="15560263" y="1064081"/>
            <a:ext cx="2727737" cy="2727737"/>
          </a:xfrm>
          <a:custGeom>
            <a:avLst/>
            <a:gdLst/>
            <a:ahLst/>
            <a:cxnLst/>
            <a:rect r="r" b="b" t="t" l="l"/>
            <a:pathLst>
              <a:path h="2727737" w="2727737">
                <a:moveTo>
                  <a:pt x="0" y="0"/>
                </a:moveTo>
                <a:lnTo>
                  <a:pt x="2727737" y="0"/>
                </a:lnTo>
                <a:lnTo>
                  <a:pt x="2727737" y="2727737"/>
                </a:lnTo>
                <a:lnTo>
                  <a:pt x="0" y="272773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7213" y="3791818"/>
            <a:ext cx="9231213" cy="5522365"/>
          </a:xfrm>
          <a:custGeom>
            <a:avLst/>
            <a:gdLst/>
            <a:ahLst/>
            <a:cxnLst/>
            <a:rect r="r" b="b" t="t" l="l"/>
            <a:pathLst>
              <a:path h="5522365" w="9231213">
                <a:moveTo>
                  <a:pt x="0" y="0"/>
                </a:moveTo>
                <a:lnTo>
                  <a:pt x="9231213" y="0"/>
                </a:lnTo>
                <a:lnTo>
                  <a:pt x="9231213" y="5522365"/>
                </a:lnTo>
                <a:lnTo>
                  <a:pt x="0" y="5522365"/>
                </a:lnTo>
                <a:lnTo>
                  <a:pt x="0" y="0"/>
                </a:lnTo>
                <a:close/>
              </a:path>
            </a:pathLst>
          </a:custGeom>
          <a:blipFill>
            <a:blip r:embed="rId4"/>
            <a:stretch>
              <a:fillRect l="0" t="0" r="0" b="0"/>
            </a:stretch>
          </a:blipFill>
        </p:spPr>
      </p:sp>
      <p:sp>
        <p:nvSpPr>
          <p:cNvPr name="TextBox 10" id="10"/>
          <p:cNvSpPr txBox="true"/>
          <p:nvPr/>
        </p:nvSpPr>
        <p:spPr>
          <a:xfrm rot="0">
            <a:off x="1028700" y="1283045"/>
            <a:ext cx="9903580" cy="1144905"/>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VISUALISASI DATA</a:t>
            </a:r>
          </a:p>
        </p:txBody>
      </p:sp>
      <p:sp>
        <p:nvSpPr>
          <p:cNvPr name="TextBox 11" id="11"/>
          <p:cNvSpPr txBox="true"/>
          <p:nvPr/>
        </p:nvSpPr>
        <p:spPr>
          <a:xfrm rot="0">
            <a:off x="10113469" y="4164171"/>
            <a:ext cx="6166836" cy="2715895"/>
          </a:xfrm>
          <a:prstGeom prst="rect">
            <a:avLst/>
          </a:prstGeom>
        </p:spPr>
        <p:txBody>
          <a:bodyPr anchor="t" rtlCol="false" tIns="0" lIns="0" bIns="0" rIns="0">
            <a:spAutoFit/>
          </a:bodyPr>
          <a:lstStyle/>
          <a:p>
            <a:pPr algn="just">
              <a:lnSpc>
                <a:spcPts val="3079"/>
              </a:lnSpc>
              <a:spcBef>
                <a:spcPct val="0"/>
              </a:spcBef>
            </a:pPr>
            <a:r>
              <a:rPr lang="en-US" sz="2199">
                <a:solidFill>
                  <a:srgbClr val="434343"/>
                </a:solidFill>
                <a:latin typeface="Inter"/>
                <a:ea typeface="Inter"/>
                <a:cs typeface="Inter"/>
                <a:sym typeface="Inter"/>
              </a:rPr>
              <a:t>Pie Chart menunjukkan bahwa ETH memiliki kinerja return terbaik selama periode analisis dengan 77%, diikuti BNB dengan 26%, dan BTC dengan 20%. Hal  ini menggambarkan bahwa ETH dan BNB memiliki pertumbuhan harga yang lebih tinggi secara presentasi dibanding BTC</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AutoShape 2" id="2"/>
          <p:cNvSpPr/>
          <p:nvPr/>
        </p:nvSpPr>
        <p:spPr>
          <a:xfrm>
            <a:off x="0" y="1047750"/>
            <a:ext cx="18288000" cy="0"/>
          </a:xfrm>
          <a:prstGeom prst="line">
            <a:avLst/>
          </a:prstGeom>
          <a:ln cap="flat" w="9525">
            <a:solidFill>
              <a:srgbClr val="A6A6A6"/>
            </a:solidFill>
            <a:prstDash val="solid"/>
            <a:headEnd type="none" len="sm" w="sm"/>
            <a:tailEnd type="none" len="sm" w="sm"/>
          </a:ln>
        </p:spPr>
      </p:sp>
      <p:sp>
        <p:nvSpPr>
          <p:cNvPr name="AutoShape 3" id="3"/>
          <p:cNvSpPr/>
          <p:nvPr/>
        </p:nvSpPr>
        <p:spPr>
          <a:xfrm flipV="true">
            <a:off x="15178833" y="1244945"/>
            <a:ext cx="0" cy="2746787"/>
          </a:xfrm>
          <a:prstGeom prst="line">
            <a:avLst/>
          </a:prstGeom>
          <a:ln cap="flat" w="9525">
            <a:solidFill>
              <a:srgbClr val="A6A6A6"/>
            </a:solidFill>
            <a:prstDash val="solid"/>
            <a:headEnd type="none" len="sm" w="sm"/>
            <a:tailEnd type="none" len="sm" w="sm"/>
          </a:ln>
        </p:spPr>
      </p:sp>
      <p:sp>
        <p:nvSpPr>
          <p:cNvPr name="AutoShape 4" id="4"/>
          <p:cNvSpPr/>
          <p:nvPr/>
        </p:nvSpPr>
        <p:spPr>
          <a:xfrm flipV="true">
            <a:off x="640701" y="1028700"/>
            <a:ext cx="0" cy="2746787"/>
          </a:xfrm>
          <a:prstGeom prst="line">
            <a:avLst/>
          </a:prstGeom>
          <a:ln cap="flat" w="9525">
            <a:solidFill>
              <a:srgbClr val="A6A6A6"/>
            </a:solidFill>
            <a:prstDash val="solid"/>
            <a:headEnd type="none" len="sm" w="sm"/>
            <a:tailEnd type="none" len="sm" w="sm"/>
          </a:ln>
        </p:spPr>
      </p:sp>
      <p:sp>
        <p:nvSpPr>
          <p:cNvPr name="AutoShape 5" id="5"/>
          <p:cNvSpPr/>
          <p:nvPr/>
        </p:nvSpPr>
        <p:spPr>
          <a:xfrm flipV="true">
            <a:off x="17254538" y="3775487"/>
            <a:ext cx="0" cy="5482813"/>
          </a:xfrm>
          <a:prstGeom prst="line">
            <a:avLst/>
          </a:prstGeom>
          <a:ln cap="flat" w="9525">
            <a:solidFill>
              <a:srgbClr val="A6A6A6"/>
            </a:solidFill>
            <a:prstDash val="solid"/>
            <a:headEnd type="none" len="sm" w="sm"/>
            <a:tailEnd type="none" len="sm" w="sm"/>
          </a:ln>
        </p:spPr>
      </p:sp>
      <p:sp>
        <p:nvSpPr>
          <p:cNvPr name="AutoShape 6" id="6"/>
          <p:cNvSpPr/>
          <p:nvPr/>
        </p:nvSpPr>
        <p:spPr>
          <a:xfrm>
            <a:off x="0" y="3775487"/>
            <a:ext cx="18288000" cy="0"/>
          </a:xfrm>
          <a:prstGeom prst="line">
            <a:avLst/>
          </a:prstGeom>
          <a:ln cap="flat" w="9525">
            <a:solidFill>
              <a:srgbClr val="999898"/>
            </a:solidFill>
            <a:prstDash val="solid"/>
            <a:headEnd type="none" len="sm" w="sm"/>
            <a:tailEnd type="none" len="sm" w="sm"/>
          </a:ln>
        </p:spPr>
      </p:sp>
      <p:sp>
        <p:nvSpPr>
          <p:cNvPr name="AutoShape 7" id="7"/>
          <p:cNvSpPr/>
          <p:nvPr/>
        </p:nvSpPr>
        <p:spPr>
          <a:xfrm>
            <a:off x="0" y="9253538"/>
            <a:ext cx="18288000" cy="0"/>
          </a:xfrm>
          <a:prstGeom prst="line">
            <a:avLst/>
          </a:prstGeom>
          <a:ln cap="flat" w="9525">
            <a:solidFill>
              <a:srgbClr val="A6A6A6"/>
            </a:solidFill>
            <a:prstDash val="solid"/>
            <a:headEnd type="none" len="sm" w="sm"/>
            <a:tailEnd type="none" len="sm" w="sm"/>
          </a:ln>
        </p:spPr>
      </p:sp>
      <p:sp>
        <p:nvSpPr>
          <p:cNvPr name="Freeform 8" id="8"/>
          <p:cNvSpPr/>
          <p:nvPr/>
        </p:nvSpPr>
        <p:spPr>
          <a:xfrm flipH="false" flipV="false" rot="0">
            <a:off x="15560263" y="1064081"/>
            <a:ext cx="2727737" cy="2727737"/>
          </a:xfrm>
          <a:custGeom>
            <a:avLst/>
            <a:gdLst/>
            <a:ahLst/>
            <a:cxnLst/>
            <a:rect r="r" b="b" t="t" l="l"/>
            <a:pathLst>
              <a:path h="2727737" w="2727737">
                <a:moveTo>
                  <a:pt x="0" y="0"/>
                </a:moveTo>
                <a:lnTo>
                  <a:pt x="2727737" y="0"/>
                </a:lnTo>
                <a:lnTo>
                  <a:pt x="2727737" y="2727737"/>
                </a:lnTo>
                <a:lnTo>
                  <a:pt x="0" y="272773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3850826"/>
            <a:ext cx="8362361" cy="5327373"/>
          </a:xfrm>
          <a:custGeom>
            <a:avLst/>
            <a:gdLst/>
            <a:ahLst/>
            <a:cxnLst/>
            <a:rect r="r" b="b" t="t" l="l"/>
            <a:pathLst>
              <a:path h="5327373" w="8362361">
                <a:moveTo>
                  <a:pt x="0" y="0"/>
                </a:moveTo>
                <a:lnTo>
                  <a:pt x="8362361" y="0"/>
                </a:lnTo>
                <a:lnTo>
                  <a:pt x="8362361" y="5327373"/>
                </a:lnTo>
                <a:lnTo>
                  <a:pt x="0" y="5327373"/>
                </a:lnTo>
                <a:lnTo>
                  <a:pt x="0" y="0"/>
                </a:lnTo>
                <a:close/>
              </a:path>
            </a:pathLst>
          </a:custGeom>
          <a:blipFill>
            <a:blip r:embed="rId4"/>
            <a:stretch>
              <a:fillRect l="0" t="0" r="0" b="0"/>
            </a:stretch>
          </a:blipFill>
        </p:spPr>
      </p:sp>
      <p:sp>
        <p:nvSpPr>
          <p:cNvPr name="TextBox 10" id="10"/>
          <p:cNvSpPr txBox="true"/>
          <p:nvPr/>
        </p:nvSpPr>
        <p:spPr>
          <a:xfrm rot="0">
            <a:off x="1028700" y="1283045"/>
            <a:ext cx="9903580" cy="1144905"/>
          </a:xfrm>
          <a:prstGeom prst="rect">
            <a:avLst/>
          </a:prstGeom>
        </p:spPr>
        <p:txBody>
          <a:bodyPr anchor="t" rtlCol="false" tIns="0" lIns="0" bIns="0" rIns="0">
            <a:spAutoFit/>
          </a:bodyPr>
          <a:lstStyle/>
          <a:p>
            <a:pPr algn="l">
              <a:lnSpc>
                <a:spcPts val="8969"/>
              </a:lnSpc>
            </a:pPr>
            <a:r>
              <a:rPr lang="en-US" b="true" sz="7800" spc="-234">
                <a:solidFill>
                  <a:srgbClr val="007043"/>
                </a:solidFill>
                <a:latin typeface="Anantason Condensed Bold"/>
                <a:ea typeface="Anantason Condensed Bold"/>
                <a:cs typeface="Anantason Condensed Bold"/>
                <a:sym typeface="Anantason Condensed Bold"/>
              </a:rPr>
              <a:t>VISUALISASI DATA</a:t>
            </a:r>
          </a:p>
        </p:txBody>
      </p:sp>
      <p:sp>
        <p:nvSpPr>
          <p:cNvPr name="TextBox 11" id="11"/>
          <p:cNvSpPr txBox="true"/>
          <p:nvPr/>
        </p:nvSpPr>
        <p:spPr>
          <a:xfrm rot="0">
            <a:off x="9722650" y="4461365"/>
            <a:ext cx="6870688" cy="2715895"/>
          </a:xfrm>
          <a:prstGeom prst="rect">
            <a:avLst/>
          </a:prstGeom>
        </p:spPr>
        <p:txBody>
          <a:bodyPr anchor="t" rtlCol="false" tIns="0" lIns="0" bIns="0" rIns="0">
            <a:spAutoFit/>
          </a:bodyPr>
          <a:lstStyle/>
          <a:p>
            <a:pPr algn="just">
              <a:lnSpc>
                <a:spcPts val="3079"/>
              </a:lnSpc>
              <a:spcBef>
                <a:spcPct val="0"/>
              </a:spcBef>
            </a:pPr>
            <a:r>
              <a:rPr lang="en-US" sz="2199">
                <a:solidFill>
                  <a:srgbClr val="434343"/>
                </a:solidFill>
                <a:latin typeface="Inter"/>
                <a:ea typeface="Inter"/>
                <a:cs typeface="Inter"/>
                <a:sym typeface="Inter"/>
              </a:rPr>
              <a:t>Scatter Plot menunjukkan adanya korelasi positif yang sangat kuat antara BTC dan ETH, dengan R</a:t>
            </a:r>
            <a:r>
              <a:rPr lang="en-US" sz="2199">
                <a:solidFill>
                  <a:srgbClr val="434343"/>
                </a:solidFill>
                <a:latin typeface="Inter"/>
                <a:ea typeface="Inter"/>
                <a:cs typeface="Inter"/>
                <a:sym typeface="Inter"/>
              </a:rPr>
              <a:t>2</a:t>
            </a:r>
            <a:r>
              <a:rPr lang="en-US" sz="2199">
                <a:solidFill>
                  <a:srgbClr val="434343"/>
                </a:solidFill>
                <a:latin typeface="Inter"/>
                <a:ea typeface="Inter"/>
                <a:cs typeface="Inter"/>
                <a:sym typeface="Inter"/>
              </a:rPr>
              <a:t> sebesar 0.80, artinya sekitar 80% perubahan aset dapat dijelaskan oleh pergerakan harga BTC. Ketika BTC naik atau turun, ETH cenderung mengikuti arah yang sama sehingga menunjukkan hubungan pasar yang erat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Freeform 2" id="2"/>
          <p:cNvSpPr/>
          <p:nvPr/>
        </p:nvSpPr>
        <p:spPr>
          <a:xfrm flipH="false" flipV="false" rot="0">
            <a:off x="12390851" y="6043028"/>
            <a:ext cx="9676393" cy="7406839"/>
          </a:xfrm>
          <a:custGeom>
            <a:avLst/>
            <a:gdLst/>
            <a:ahLst/>
            <a:cxnLst/>
            <a:rect r="r" b="b" t="t" l="l"/>
            <a:pathLst>
              <a:path h="7406839" w="9676393">
                <a:moveTo>
                  <a:pt x="0" y="0"/>
                </a:moveTo>
                <a:lnTo>
                  <a:pt x="9676393" y="0"/>
                </a:lnTo>
                <a:lnTo>
                  <a:pt x="9676393" y="7406840"/>
                </a:lnTo>
                <a:lnTo>
                  <a:pt x="0" y="740684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68817">
            <a:off x="15203707" y="-2310350"/>
            <a:ext cx="4873342" cy="4991318"/>
          </a:xfrm>
          <a:custGeom>
            <a:avLst/>
            <a:gdLst/>
            <a:ahLst/>
            <a:cxnLst/>
            <a:rect r="r" b="b" t="t" l="l"/>
            <a:pathLst>
              <a:path h="4991318" w="4873342">
                <a:moveTo>
                  <a:pt x="0" y="0"/>
                </a:moveTo>
                <a:lnTo>
                  <a:pt x="4873342" y="0"/>
                </a:lnTo>
                <a:lnTo>
                  <a:pt x="4873342" y="4991318"/>
                </a:lnTo>
                <a:lnTo>
                  <a:pt x="0" y="4991318"/>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371630" y="734609"/>
            <a:ext cx="13559808" cy="1144905"/>
          </a:xfrm>
          <a:prstGeom prst="rect">
            <a:avLst/>
          </a:prstGeom>
        </p:spPr>
        <p:txBody>
          <a:bodyPr anchor="t" rtlCol="false" tIns="0" lIns="0" bIns="0" rIns="0">
            <a:spAutoFit/>
          </a:bodyPr>
          <a:lstStyle/>
          <a:p>
            <a:pPr algn="ctr">
              <a:lnSpc>
                <a:spcPts val="8969"/>
              </a:lnSpc>
            </a:pPr>
            <a:r>
              <a:rPr lang="en-US" b="true" sz="7800" spc="-234">
                <a:solidFill>
                  <a:srgbClr val="007043"/>
                </a:solidFill>
                <a:latin typeface="Anantason Condensed Bold"/>
                <a:ea typeface="Anantason Condensed Bold"/>
                <a:cs typeface="Anantason Condensed Bold"/>
                <a:sym typeface="Anantason Condensed Bold"/>
              </a:rPr>
              <a:t>REKOMENDASI</a:t>
            </a:r>
          </a:p>
        </p:txBody>
      </p:sp>
      <p:grpSp>
        <p:nvGrpSpPr>
          <p:cNvPr name="Group 5" id="5"/>
          <p:cNvGrpSpPr/>
          <p:nvPr/>
        </p:nvGrpSpPr>
        <p:grpSpPr>
          <a:xfrm rot="0">
            <a:off x="0" y="2540141"/>
            <a:ext cx="18757874" cy="6100409"/>
            <a:chOff x="0" y="0"/>
            <a:chExt cx="25010498" cy="8133878"/>
          </a:xfrm>
        </p:grpSpPr>
        <p:sp>
          <p:nvSpPr>
            <p:cNvPr name="TextBox 6" id="6"/>
            <p:cNvSpPr txBox="true"/>
            <p:nvPr/>
          </p:nvSpPr>
          <p:spPr>
            <a:xfrm rot="0">
              <a:off x="914071" y="-152400"/>
              <a:ext cx="5617193" cy="1729740"/>
            </a:xfrm>
            <a:prstGeom prst="rect">
              <a:avLst/>
            </a:prstGeom>
          </p:spPr>
          <p:txBody>
            <a:bodyPr anchor="t" rtlCol="false" tIns="0" lIns="0" bIns="0" rIns="0">
              <a:spAutoFit/>
            </a:bodyPr>
            <a:lstStyle/>
            <a:p>
              <a:pPr algn="l">
                <a:lnSpc>
                  <a:spcPts val="10919"/>
                </a:lnSpc>
                <a:spcBef>
                  <a:spcPct val="0"/>
                </a:spcBef>
              </a:pPr>
              <a:r>
                <a:rPr lang="en-US" sz="7800">
                  <a:solidFill>
                    <a:srgbClr val="007043">
                      <a:alpha val="19608"/>
                    </a:srgbClr>
                  </a:solidFill>
                  <a:latin typeface="Anantason Condensed"/>
                  <a:ea typeface="Anantason Condensed"/>
                  <a:cs typeface="Anantason Condensed"/>
                  <a:sym typeface="Anantason Condensed"/>
                </a:rPr>
                <a:t>01</a:t>
              </a:r>
            </a:p>
          </p:txBody>
        </p:sp>
        <p:sp>
          <p:nvSpPr>
            <p:cNvPr name="TextBox 7" id="7"/>
            <p:cNvSpPr txBox="true"/>
            <p:nvPr/>
          </p:nvSpPr>
          <p:spPr>
            <a:xfrm rot="0">
              <a:off x="2299293" y="349023"/>
              <a:ext cx="13683181"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BTC MARKET LEADER</a:t>
              </a:r>
            </a:p>
          </p:txBody>
        </p:sp>
        <p:sp>
          <p:nvSpPr>
            <p:cNvPr name="TextBox 8" id="8"/>
            <p:cNvSpPr txBox="true"/>
            <p:nvPr/>
          </p:nvSpPr>
          <p:spPr>
            <a:xfrm rot="0">
              <a:off x="2299293" y="1333506"/>
              <a:ext cx="21797134" cy="1004993"/>
            </a:xfrm>
            <a:prstGeom prst="rect">
              <a:avLst/>
            </a:prstGeom>
          </p:spPr>
          <p:txBody>
            <a:bodyPr anchor="t" rtlCol="false" tIns="0" lIns="0" bIns="0" rIns="0">
              <a:spAutoFit/>
            </a:bodyPr>
            <a:lstStyle/>
            <a:p>
              <a:pPr algn="l">
                <a:lnSpc>
                  <a:spcPts val="3079"/>
                </a:lnSpc>
                <a:spcBef>
                  <a:spcPct val="0"/>
                </a:spcBef>
              </a:pPr>
              <a:r>
                <a:rPr lang="en-US" sz="2199">
                  <a:solidFill>
                    <a:srgbClr val="434343"/>
                  </a:solidFill>
                  <a:latin typeface="Inter"/>
                  <a:ea typeface="Inter"/>
                  <a:cs typeface="Inter"/>
                  <a:sym typeface="Inter"/>
                </a:rPr>
                <a:t>Korelasi BTC-ETH mencapai R</a:t>
              </a:r>
              <a:r>
                <a:rPr lang="en-US" sz="2199">
                  <a:solidFill>
                    <a:srgbClr val="434343"/>
                  </a:solidFill>
                  <a:latin typeface="Inter"/>
                  <a:ea typeface="Inter"/>
                  <a:cs typeface="Inter"/>
                  <a:sym typeface="Inter"/>
                </a:rPr>
                <a:t>2</a:t>
              </a:r>
              <a:r>
                <a:rPr lang="en-US" sz="2199">
                  <a:solidFill>
                    <a:srgbClr val="434343"/>
                  </a:solidFill>
                  <a:latin typeface="Inter"/>
                  <a:ea typeface="Inter"/>
                  <a:cs typeface="Inter"/>
                  <a:sym typeface="Inter"/>
                </a:rPr>
                <a:t> = 0,80, menunjukkan hubungan sangat kuat. sehingga, pantau pergerakan BTC sebagai dasar keputusan untuk aset lain</a:t>
              </a:r>
            </a:p>
          </p:txBody>
        </p:sp>
        <p:sp>
          <p:nvSpPr>
            <p:cNvPr name="AutoShape 9" id="9"/>
            <p:cNvSpPr/>
            <p:nvPr/>
          </p:nvSpPr>
          <p:spPr>
            <a:xfrm>
              <a:off x="0" y="2582437"/>
              <a:ext cx="24697249" cy="0"/>
            </a:xfrm>
            <a:prstGeom prst="line">
              <a:avLst/>
            </a:prstGeom>
            <a:ln cap="flat" w="12700">
              <a:solidFill>
                <a:srgbClr val="A6A6A6"/>
              </a:solidFill>
              <a:prstDash val="solid"/>
              <a:headEnd type="none" len="sm" w="sm"/>
              <a:tailEnd type="none" len="sm" w="sm"/>
            </a:ln>
          </p:spPr>
        </p:sp>
        <p:sp>
          <p:nvSpPr>
            <p:cNvPr name="TextBox 10" id="10"/>
            <p:cNvSpPr txBox="true"/>
            <p:nvPr/>
          </p:nvSpPr>
          <p:spPr>
            <a:xfrm rot="0">
              <a:off x="914071" y="2423687"/>
              <a:ext cx="5418222" cy="1729740"/>
            </a:xfrm>
            <a:prstGeom prst="rect">
              <a:avLst/>
            </a:prstGeom>
          </p:spPr>
          <p:txBody>
            <a:bodyPr anchor="t" rtlCol="false" tIns="0" lIns="0" bIns="0" rIns="0">
              <a:spAutoFit/>
            </a:bodyPr>
            <a:lstStyle/>
            <a:p>
              <a:pPr algn="l">
                <a:lnSpc>
                  <a:spcPts val="10919"/>
                </a:lnSpc>
                <a:spcBef>
                  <a:spcPct val="0"/>
                </a:spcBef>
              </a:pPr>
              <a:r>
                <a:rPr lang="en-US" sz="7800">
                  <a:solidFill>
                    <a:srgbClr val="007043">
                      <a:alpha val="19608"/>
                    </a:srgbClr>
                  </a:solidFill>
                  <a:latin typeface="Anantason Condensed"/>
                  <a:ea typeface="Anantason Condensed"/>
                  <a:cs typeface="Anantason Condensed"/>
                  <a:sym typeface="Anantason Condensed"/>
                </a:rPr>
                <a:t>02</a:t>
              </a:r>
            </a:p>
          </p:txBody>
        </p:sp>
        <p:sp>
          <p:nvSpPr>
            <p:cNvPr name="TextBox 11" id="11"/>
            <p:cNvSpPr txBox="true"/>
            <p:nvPr/>
          </p:nvSpPr>
          <p:spPr>
            <a:xfrm rot="0">
              <a:off x="2250226" y="2925110"/>
              <a:ext cx="13198499"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ETH PERTUMBUHAN AGRESIF</a:t>
              </a:r>
            </a:p>
          </p:txBody>
        </p:sp>
        <p:sp>
          <p:nvSpPr>
            <p:cNvPr name="TextBox 12" id="12"/>
            <p:cNvSpPr txBox="true"/>
            <p:nvPr/>
          </p:nvSpPr>
          <p:spPr>
            <a:xfrm rot="0">
              <a:off x="2250226" y="3909592"/>
              <a:ext cx="21025041" cy="1525693"/>
            </a:xfrm>
            <a:prstGeom prst="rect">
              <a:avLst/>
            </a:prstGeom>
          </p:spPr>
          <p:txBody>
            <a:bodyPr anchor="t" rtlCol="false" tIns="0" lIns="0" bIns="0" rIns="0">
              <a:spAutoFit/>
            </a:bodyPr>
            <a:lstStyle/>
            <a:p>
              <a:pPr algn="l">
                <a:lnSpc>
                  <a:spcPts val="3079"/>
                </a:lnSpc>
                <a:spcBef>
                  <a:spcPct val="0"/>
                </a:spcBef>
              </a:pPr>
              <a:r>
                <a:rPr lang="en-US" sz="2199">
                  <a:solidFill>
                    <a:srgbClr val="434343"/>
                  </a:solidFill>
                  <a:latin typeface="Inter"/>
                  <a:ea typeface="Inter"/>
                  <a:cs typeface="Inter"/>
                  <a:sym typeface="Inter"/>
                </a:rPr>
                <a:t>Pie chart menunjukkan ETH memberikan return terbesar yaitu 77%. Namun, volatilitasnya lebih tinggi dibanding BTC. Sehingga, ETH cocok untuk investor yang mencari peluang pertumbuhan tinggi dan siap menanggung fluktuasi lebih besar</a:t>
              </a:r>
            </a:p>
          </p:txBody>
        </p:sp>
        <p:sp>
          <p:nvSpPr>
            <p:cNvPr name="AutoShape 13" id="13"/>
            <p:cNvSpPr/>
            <p:nvPr/>
          </p:nvSpPr>
          <p:spPr>
            <a:xfrm>
              <a:off x="313249" y="5547730"/>
              <a:ext cx="24697249" cy="0"/>
            </a:xfrm>
            <a:prstGeom prst="line">
              <a:avLst/>
            </a:prstGeom>
            <a:ln cap="flat" w="12700">
              <a:solidFill>
                <a:srgbClr val="A6A6A6"/>
              </a:solidFill>
              <a:prstDash val="solid"/>
              <a:headEnd type="none" len="sm" w="sm"/>
              <a:tailEnd type="none" len="sm" w="sm"/>
            </a:ln>
          </p:spPr>
        </p:sp>
        <p:sp>
          <p:nvSpPr>
            <p:cNvPr name="TextBox 14" id="14"/>
            <p:cNvSpPr txBox="true"/>
            <p:nvPr/>
          </p:nvSpPr>
          <p:spPr>
            <a:xfrm rot="0">
              <a:off x="914071" y="5642980"/>
              <a:ext cx="5418222" cy="1729740"/>
            </a:xfrm>
            <a:prstGeom prst="rect">
              <a:avLst/>
            </a:prstGeom>
          </p:spPr>
          <p:txBody>
            <a:bodyPr anchor="t" rtlCol="false" tIns="0" lIns="0" bIns="0" rIns="0">
              <a:spAutoFit/>
            </a:bodyPr>
            <a:lstStyle/>
            <a:p>
              <a:pPr algn="l">
                <a:lnSpc>
                  <a:spcPts val="10919"/>
                </a:lnSpc>
                <a:spcBef>
                  <a:spcPct val="0"/>
                </a:spcBef>
              </a:pPr>
              <a:r>
                <a:rPr lang="en-US" sz="7800">
                  <a:solidFill>
                    <a:srgbClr val="007043">
                      <a:alpha val="19608"/>
                    </a:srgbClr>
                  </a:solidFill>
                  <a:latin typeface="Anantason Condensed"/>
                  <a:ea typeface="Anantason Condensed"/>
                  <a:cs typeface="Anantason Condensed"/>
                  <a:sym typeface="Anantason Condensed"/>
                </a:rPr>
                <a:t>03</a:t>
              </a:r>
            </a:p>
          </p:txBody>
        </p:sp>
        <p:sp>
          <p:nvSpPr>
            <p:cNvPr name="TextBox 15" id="15"/>
            <p:cNvSpPr txBox="true"/>
            <p:nvPr/>
          </p:nvSpPr>
          <p:spPr>
            <a:xfrm rot="0">
              <a:off x="2250226" y="6144403"/>
              <a:ext cx="13198499"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BNB ASET STABIL</a:t>
              </a:r>
            </a:p>
          </p:txBody>
        </p:sp>
        <p:sp>
          <p:nvSpPr>
            <p:cNvPr name="TextBox 16" id="16"/>
            <p:cNvSpPr txBox="true"/>
            <p:nvPr/>
          </p:nvSpPr>
          <p:spPr>
            <a:xfrm rot="0">
              <a:off x="2250226" y="7128885"/>
              <a:ext cx="21025041" cy="1004993"/>
            </a:xfrm>
            <a:prstGeom prst="rect">
              <a:avLst/>
            </a:prstGeom>
          </p:spPr>
          <p:txBody>
            <a:bodyPr anchor="t" rtlCol="false" tIns="0" lIns="0" bIns="0" rIns="0">
              <a:spAutoFit/>
            </a:bodyPr>
            <a:lstStyle/>
            <a:p>
              <a:pPr algn="l">
                <a:lnSpc>
                  <a:spcPts val="3079"/>
                </a:lnSpc>
                <a:spcBef>
                  <a:spcPct val="0"/>
                </a:spcBef>
              </a:pPr>
              <a:r>
                <a:rPr lang="en-US" sz="2199">
                  <a:solidFill>
                    <a:srgbClr val="434343"/>
                  </a:solidFill>
                  <a:latin typeface="Inter"/>
                  <a:ea typeface="Inter"/>
                  <a:cs typeface="Inter"/>
                  <a:sym typeface="Inter"/>
                </a:rPr>
                <a:t>Dengan standar deviasi paling rendah, dan return cukup baik dengan volatilitas kecil, BNB cocok untuk investor yang ingin aset lebih stabil namun tetap memberikan pertumbuhan moderat</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Freeform 2" id="2"/>
          <p:cNvSpPr/>
          <p:nvPr/>
        </p:nvSpPr>
        <p:spPr>
          <a:xfrm flipH="false" flipV="false" rot="0">
            <a:off x="12390851" y="6043028"/>
            <a:ext cx="9676393" cy="7406839"/>
          </a:xfrm>
          <a:custGeom>
            <a:avLst/>
            <a:gdLst/>
            <a:ahLst/>
            <a:cxnLst/>
            <a:rect r="r" b="b" t="t" l="l"/>
            <a:pathLst>
              <a:path h="7406839" w="9676393">
                <a:moveTo>
                  <a:pt x="0" y="0"/>
                </a:moveTo>
                <a:lnTo>
                  <a:pt x="9676393" y="0"/>
                </a:lnTo>
                <a:lnTo>
                  <a:pt x="9676393" y="7406840"/>
                </a:lnTo>
                <a:lnTo>
                  <a:pt x="0" y="7406840"/>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68817">
            <a:off x="15203707" y="-2310350"/>
            <a:ext cx="4873342" cy="4991318"/>
          </a:xfrm>
          <a:custGeom>
            <a:avLst/>
            <a:gdLst/>
            <a:ahLst/>
            <a:cxnLst/>
            <a:rect r="r" b="b" t="t" l="l"/>
            <a:pathLst>
              <a:path h="4991318" w="4873342">
                <a:moveTo>
                  <a:pt x="0" y="0"/>
                </a:moveTo>
                <a:lnTo>
                  <a:pt x="4873342" y="0"/>
                </a:lnTo>
                <a:lnTo>
                  <a:pt x="4873342" y="4991318"/>
                </a:lnTo>
                <a:lnTo>
                  <a:pt x="0" y="4991318"/>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371630" y="734609"/>
            <a:ext cx="13559808" cy="1144905"/>
          </a:xfrm>
          <a:prstGeom prst="rect">
            <a:avLst/>
          </a:prstGeom>
        </p:spPr>
        <p:txBody>
          <a:bodyPr anchor="t" rtlCol="false" tIns="0" lIns="0" bIns="0" rIns="0">
            <a:spAutoFit/>
          </a:bodyPr>
          <a:lstStyle/>
          <a:p>
            <a:pPr algn="ctr">
              <a:lnSpc>
                <a:spcPts val="8969"/>
              </a:lnSpc>
            </a:pPr>
            <a:r>
              <a:rPr lang="en-US" b="true" sz="7800" spc="-234">
                <a:solidFill>
                  <a:srgbClr val="007043"/>
                </a:solidFill>
                <a:latin typeface="Anantason Condensed Bold"/>
                <a:ea typeface="Anantason Condensed Bold"/>
                <a:cs typeface="Anantason Condensed Bold"/>
                <a:sym typeface="Anantason Condensed Bold"/>
              </a:rPr>
              <a:t>REKOMENDASI</a:t>
            </a:r>
          </a:p>
        </p:txBody>
      </p:sp>
      <p:grpSp>
        <p:nvGrpSpPr>
          <p:cNvPr name="Group 5" id="5"/>
          <p:cNvGrpSpPr/>
          <p:nvPr/>
        </p:nvGrpSpPr>
        <p:grpSpPr>
          <a:xfrm rot="0">
            <a:off x="685553" y="2540141"/>
            <a:ext cx="17386767" cy="1363349"/>
            <a:chOff x="0" y="0"/>
            <a:chExt cx="23182356" cy="1817799"/>
          </a:xfrm>
        </p:grpSpPr>
        <p:sp>
          <p:nvSpPr>
            <p:cNvPr name="TextBox 6" id="6"/>
            <p:cNvSpPr txBox="true"/>
            <p:nvPr/>
          </p:nvSpPr>
          <p:spPr>
            <a:xfrm rot="0">
              <a:off x="0" y="-152400"/>
              <a:ext cx="5617193" cy="1729740"/>
            </a:xfrm>
            <a:prstGeom prst="rect">
              <a:avLst/>
            </a:prstGeom>
          </p:spPr>
          <p:txBody>
            <a:bodyPr anchor="t" rtlCol="false" tIns="0" lIns="0" bIns="0" rIns="0">
              <a:spAutoFit/>
            </a:bodyPr>
            <a:lstStyle/>
            <a:p>
              <a:pPr algn="l">
                <a:lnSpc>
                  <a:spcPts val="10919"/>
                </a:lnSpc>
                <a:spcBef>
                  <a:spcPct val="0"/>
                </a:spcBef>
              </a:pPr>
              <a:r>
                <a:rPr lang="en-US" sz="7800">
                  <a:solidFill>
                    <a:srgbClr val="007043">
                      <a:alpha val="19608"/>
                    </a:srgbClr>
                  </a:solidFill>
                  <a:latin typeface="Anantason Condensed"/>
                  <a:ea typeface="Anantason Condensed"/>
                  <a:cs typeface="Anantason Condensed"/>
                  <a:sym typeface="Anantason Condensed"/>
                </a:rPr>
                <a:t>04</a:t>
              </a:r>
            </a:p>
          </p:txBody>
        </p:sp>
        <p:sp>
          <p:nvSpPr>
            <p:cNvPr name="TextBox 7" id="7"/>
            <p:cNvSpPr txBox="true"/>
            <p:nvPr/>
          </p:nvSpPr>
          <p:spPr>
            <a:xfrm rot="0">
              <a:off x="1385221" y="349023"/>
              <a:ext cx="13683181"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VOLATILITAS CRYPTO</a:t>
              </a:r>
            </a:p>
          </p:txBody>
        </p:sp>
        <p:sp>
          <p:nvSpPr>
            <p:cNvPr name="TextBox 8" id="8"/>
            <p:cNvSpPr txBox="true"/>
            <p:nvPr/>
          </p:nvSpPr>
          <p:spPr>
            <a:xfrm rot="0">
              <a:off x="1385221" y="1333506"/>
              <a:ext cx="21797134" cy="484293"/>
            </a:xfrm>
            <a:prstGeom prst="rect">
              <a:avLst/>
            </a:prstGeom>
          </p:spPr>
          <p:txBody>
            <a:bodyPr anchor="t" rtlCol="false" tIns="0" lIns="0" bIns="0" rIns="0">
              <a:spAutoFit/>
            </a:bodyPr>
            <a:lstStyle/>
            <a:p>
              <a:pPr algn="l">
                <a:lnSpc>
                  <a:spcPts val="3079"/>
                </a:lnSpc>
                <a:spcBef>
                  <a:spcPct val="0"/>
                </a:spcBef>
              </a:pPr>
              <a:r>
                <a:rPr lang="en-US" sz="2199">
                  <a:solidFill>
                    <a:srgbClr val="434343"/>
                  </a:solidFill>
                  <a:latin typeface="Inter"/>
                  <a:ea typeface="Inter"/>
                  <a:cs typeface="Inter"/>
                  <a:sym typeface="Inter"/>
                </a:rPr>
                <a:t>Chart return menunjukkan perubahan harian yang cepat dan tajam, sehingga harus bisa mengelola risiko</a:t>
              </a:r>
            </a:p>
          </p:txBody>
        </p:sp>
      </p:grpSp>
      <p:sp>
        <p:nvSpPr>
          <p:cNvPr name="AutoShape 9" id="9"/>
          <p:cNvSpPr/>
          <p:nvPr/>
        </p:nvSpPr>
        <p:spPr>
          <a:xfrm>
            <a:off x="0" y="4076918"/>
            <a:ext cx="18522937" cy="0"/>
          </a:xfrm>
          <a:prstGeom prst="line">
            <a:avLst/>
          </a:prstGeom>
          <a:ln cap="flat" w="9525">
            <a:solidFill>
              <a:srgbClr val="A6A6A6"/>
            </a:solidFill>
            <a:prstDash val="solid"/>
            <a:headEnd type="none" len="sm" w="sm"/>
            <a:tailEnd type="none" len="sm" w="sm"/>
          </a:ln>
        </p:spPr>
      </p:sp>
      <p:grpSp>
        <p:nvGrpSpPr>
          <p:cNvPr name="Group 10" id="10"/>
          <p:cNvGrpSpPr/>
          <p:nvPr/>
        </p:nvGrpSpPr>
        <p:grpSpPr>
          <a:xfrm rot="0">
            <a:off x="685553" y="4304126"/>
            <a:ext cx="16770897" cy="1753874"/>
            <a:chOff x="0" y="0"/>
            <a:chExt cx="22361195" cy="2338499"/>
          </a:xfrm>
        </p:grpSpPr>
        <p:sp>
          <p:nvSpPr>
            <p:cNvPr name="TextBox 11" id="11"/>
            <p:cNvSpPr txBox="true"/>
            <p:nvPr/>
          </p:nvSpPr>
          <p:spPr>
            <a:xfrm rot="0">
              <a:off x="0" y="-152400"/>
              <a:ext cx="5418222" cy="1729740"/>
            </a:xfrm>
            <a:prstGeom prst="rect">
              <a:avLst/>
            </a:prstGeom>
          </p:spPr>
          <p:txBody>
            <a:bodyPr anchor="t" rtlCol="false" tIns="0" lIns="0" bIns="0" rIns="0">
              <a:spAutoFit/>
            </a:bodyPr>
            <a:lstStyle/>
            <a:p>
              <a:pPr algn="l">
                <a:lnSpc>
                  <a:spcPts val="10919"/>
                </a:lnSpc>
                <a:spcBef>
                  <a:spcPct val="0"/>
                </a:spcBef>
              </a:pPr>
              <a:r>
                <a:rPr lang="en-US" sz="7800">
                  <a:solidFill>
                    <a:srgbClr val="007043">
                      <a:alpha val="19608"/>
                    </a:srgbClr>
                  </a:solidFill>
                  <a:latin typeface="Anantason Condensed"/>
                  <a:ea typeface="Anantason Condensed"/>
                  <a:cs typeface="Anantason Condensed"/>
                  <a:sym typeface="Anantason Condensed"/>
                </a:rPr>
                <a:t>05</a:t>
              </a:r>
            </a:p>
          </p:txBody>
        </p:sp>
        <p:sp>
          <p:nvSpPr>
            <p:cNvPr name="TextBox 12" id="12"/>
            <p:cNvSpPr txBox="true"/>
            <p:nvPr/>
          </p:nvSpPr>
          <p:spPr>
            <a:xfrm rot="0">
              <a:off x="1336154" y="349023"/>
              <a:ext cx="13198499"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PERIODE PENGAMATAN PASAR </a:t>
              </a:r>
            </a:p>
          </p:txBody>
        </p:sp>
        <p:sp>
          <p:nvSpPr>
            <p:cNvPr name="TextBox 13" id="13"/>
            <p:cNvSpPr txBox="true"/>
            <p:nvPr/>
          </p:nvSpPr>
          <p:spPr>
            <a:xfrm rot="0">
              <a:off x="1336154" y="1333506"/>
              <a:ext cx="21025041" cy="1004993"/>
            </a:xfrm>
            <a:prstGeom prst="rect">
              <a:avLst/>
            </a:prstGeom>
          </p:spPr>
          <p:txBody>
            <a:bodyPr anchor="t" rtlCol="false" tIns="0" lIns="0" bIns="0" rIns="0">
              <a:spAutoFit/>
            </a:bodyPr>
            <a:lstStyle/>
            <a:p>
              <a:pPr algn="l">
                <a:lnSpc>
                  <a:spcPts val="3079"/>
                </a:lnSpc>
                <a:spcBef>
                  <a:spcPct val="0"/>
                </a:spcBef>
              </a:pPr>
              <a:r>
                <a:rPr lang="en-US" sz="2199">
                  <a:solidFill>
                    <a:srgbClr val="434343"/>
                  </a:solidFill>
                  <a:latin typeface="Inter"/>
                  <a:ea typeface="Inter"/>
                  <a:cs typeface="Inter"/>
                  <a:sym typeface="Inter"/>
                </a:rPr>
                <a:t>Seluruh aset mengalami kenaikan harga yang stabil dengan return positif lebih sering muncul dibanding return negatif. Kondisi ini cocok utnuk strategi Buy on dips atau membeli ketika harga terkoreksi sedikit</a:t>
              </a:r>
            </a:p>
          </p:txBody>
        </p:sp>
      </p:grpSp>
      <p:sp>
        <p:nvSpPr>
          <p:cNvPr name="AutoShape 14" id="14"/>
          <p:cNvSpPr/>
          <p:nvPr/>
        </p:nvSpPr>
        <p:spPr>
          <a:xfrm>
            <a:off x="-234937" y="6234213"/>
            <a:ext cx="18522937" cy="0"/>
          </a:xfrm>
          <a:prstGeom prst="line">
            <a:avLst/>
          </a:prstGeom>
          <a:ln cap="flat" w="9525">
            <a:solidFill>
              <a:srgbClr val="A6A6A6"/>
            </a:solidFill>
            <a:prstDash val="solid"/>
            <a:headEnd type="none" len="sm" w="sm"/>
            <a:tailEnd type="none" len="sm" w="sm"/>
          </a:ln>
        </p:spPr>
      </p:sp>
      <p:grpSp>
        <p:nvGrpSpPr>
          <p:cNvPr name="Group 15" id="15"/>
          <p:cNvGrpSpPr/>
          <p:nvPr/>
        </p:nvGrpSpPr>
        <p:grpSpPr>
          <a:xfrm rot="0">
            <a:off x="458151" y="6458050"/>
            <a:ext cx="16770897" cy="1753874"/>
            <a:chOff x="0" y="0"/>
            <a:chExt cx="22361195" cy="2338499"/>
          </a:xfrm>
        </p:grpSpPr>
        <p:sp>
          <p:nvSpPr>
            <p:cNvPr name="TextBox 16" id="16"/>
            <p:cNvSpPr txBox="true"/>
            <p:nvPr/>
          </p:nvSpPr>
          <p:spPr>
            <a:xfrm rot="0">
              <a:off x="0" y="-152400"/>
              <a:ext cx="5418222" cy="1729740"/>
            </a:xfrm>
            <a:prstGeom prst="rect">
              <a:avLst/>
            </a:prstGeom>
          </p:spPr>
          <p:txBody>
            <a:bodyPr anchor="t" rtlCol="false" tIns="0" lIns="0" bIns="0" rIns="0">
              <a:spAutoFit/>
            </a:bodyPr>
            <a:lstStyle/>
            <a:p>
              <a:pPr algn="l">
                <a:lnSpc>
                  <a:spcPts val="10919"/>
                </a:lnSpc>
                <a:spcBef>
                  <a:spcPct val="0"/>
                </a:spcBef>
              </a:pPr>
              <a:r>
                <a:rPr lang="en-US" sz="7800">
                  <a:solidFill>
                    <a:srgbClr val="007043">
                      <a:alpha val="19608"/>
                    </a:srgbClr>
                  </a:solidFill>
                  <a:latin typeface="Anantason Condensed"/>
                  <a:ea typeface="Anantason Condensed"/>
                  <a:cs typeface="Anantason Condensed"/>
                  <a:sym typeface="Anantason Condensed"/>
                </a:rPr>
                <a:t>06</a:t>
              </a:r>
            </a:p>
          </p:txBody>
        </p:sp>
        <p:sp>
          <p:nvSpPr>
            <p:cNvPr name="TextBox 17" id="17"/>
            <p:cNvSpPr txBox="true"/>
            <p:nvPr/>
          </p:nvSpPr>
          <p:spPr>
            <a:xfrm rot="0">
              <a:off x="1336154" y="349023"/>
              <a:ext cx="13198499" cy="698076"/>
            </a:xfrm>
            <a:prstGeom prst="rect">
              <a:avLst/>
            </a:prstGeom>
          </p:spPr>
          <p:txBody>
            <a:bodyPr anchor="t" rtlCol="false" tIns="0" lIns="0" bIns="0" rIns="0">
              <a:spAutoFit/>
            </a:bodyPr>
            <a:lstStyle/>
            <a:p>
              <a:pPr algn="l">
                <a:lnSpc>
                  <a:spcPts val="4480"/>
                </a:lnSpc>
                <a:spcBef>
                  <a:spcPct val="0"/>
                </a:spcBef>
              </a:pPr>
              <a:r>
                <a:rPr lang="en-US" b="true" sz="3200">
                  <a:solidFill>
                    <a:srgbClr val="007043"/>
                  </a:solidFill>
                  <a:latin typeface="Anantason Condensed Bold"/>
                  <a:ea typeface="Anantason Condensed Bold"/>
                  <a:cs typeface="Anantason Condensed Bold"/>
                  <a:sym typeface="Anantason Condensed Bold"/>
                </a:rPr>
                <a:t>PREDIKSI ATAU FORECASTING</a:t>
              </a:r>
            </a:p>
          </p:txBody>
        </p:sp>
        <p:sp>
          <p:nvSpPr>
            <p:cNvPr name="TextBox 18" id="18"/>
            <p:cNvSpPr txBox="true"/>
            <p:nvPr/>
          </p:nvSpPr>
          <p:spPr>
            <a:xfrm rot="0">
              <a:off x="1336154" y="1333506"/>
              <a:ext cx="21025041" cy="1004993"/>
            </a:xfrm>
            <a:prstGeom prst="rect">
              <a:avLst/>
            </a:prstGeom>
          </p:spPr>
          <p:txBody>
            <a:bodyPr anchor="t" rtlCol="false" tIns="0" lIns="0" bIns="0" rIns="0">
              <a:spAutoFit/>
            </a:bodyPr>
            <a:lstStyle/>
            <a:p>
              <a:pPr algn="l">
                <a:lnSpc>
                  <a:spcPts val="3079"/>
                </a:lnSpc>
                <a:spcBef>
                  <a:spcPct val="0"/>
                </a:spcBef>
              </a:pPr>
              <a:r>
                <a:rPr lang="en-US" sz="2199">
                  <a:solidFill>
                    <a:srgbClr val="434343"/>
                  </a:solidFill>
                  <a:latin typeface="Inter"/>
                  <a:ea typeface="Inter"/>
                  <a:cs typeface="Inter"/>
                  <a:sym typeface="Inter"/>
                </a:rPr>
                <a:t>Dari pola tren dan korelasi, ditunjukkan bahwa BTC dan ETH berpotensi tetap bergerak searag, dan aset yang lebih volatil dapaat memberikan peluang lebih besar pada periode bullish berikutnya. </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8F0"/>
        </a:solidFill>
      </p:bgPr>
    </p:bg>
    <p:spTree>
      <p:nvGrpSpPr>
        <p:cNvPr id="1" name=""/>
        <p:cNvGrpSpPr/>
        <p:nvPr/>
      </p:nvGrpSpPr>
      <p:grpSpPr>
        <a:xfrm>
          <a:off x="0" y="0"/>
          <a:ext cx="0" cy="0"/>
          <a:chOff x="0" y="0"/>
          <a:chExt cx="0" cy="0"/>
        </a:xfrm>
      </p:grpSpPr>
      <p:sp>
        <p:nvSpPr>
          <p:cNvPr name="Freeform 2" id="2"/>
          <p:cNvSpPr/>
          <p:nvPr/>
        </p:nvSpPr>
        <p:spPr>
          <a:xfrm flipH="false" flipV="false" rot="0">
            <a:off x="5182027" y="3142148"/>
            <a:ext cx="6397120" cy="5792301"/>
          </a:xfrm>
          <a:custGeom>
            <a:avLst/>
            <a:gdLst/>
            <a:ahLst/>
            <a:cxnLst/>
            <a:rect r="r" b="b" t="t" l="l"/>
            <a:pathLst>
              <a:path h="5792301" w="6397120">
                <a:moveTo>
                  <a:pt x="0" y="0"/>
                </a:moveTo>
                <a:lnTo>
                  <a:pt x="6397120" y="0"/>
                </a:lnTo>
                <a:lnTo>
                  <a:pt x="6397120" y="5792301"/>
                </a:lnTo>
                <a:lnTo>
                  <a:pt x="0" y="5792301"/>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3729723" y="1010671"/>
            <a:ext cx="1380199" cy="2213148"/>
          </a:xfrm>
          <a:custGeom>
            <a:avLst/>
            <a:gdLst/>
            <a:ahLst/>
            <a:cxnLst/>
            <a:rect r="r" b="b" t="t" l="l"/>
            <a:pathLst>
              <a:path h="2213148" w="1380199">
                <a:moveTo>
                  <a:pt x="1380199" y="2213147"/>
                </a:moveTo>
                <a:lnTo>
                  <a:pt x="0" y="2213147"/>
                </a:lnTo>
                <a:lnTo>
                  <a:pt x="0" y="0"/>
                </a:lnTo>
                <a:lnTo>
                  <a:pt x="1380199" y="0"/>
                </a:lnTo>
                <a:lnTo>
                  <a:pt x="1380199" y="2213147"/>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5400000">
            <a:off x="2911353" y="1010671"/>
            <a:ext cx="1380199" cy="2213148"/>
          </a:xfrm>
          <a:custGeom>
            <a:avLst/>
            <a:gdLst/>
            <a:ahLst/>
            <a:cxnLst/>
            <a:rect r="r" b="b" t="t" l="l"/>
            <a:pathLst>
              <a:path h="2213148" w="1380199">
                <a:moveTo>
                  <a:pt x="1380200" y="2213147"/>
                </a:moveTo>
                <a:lnTo>
                  <a:pt x="0" y="2213147"/>
                </a:lnTo>
                <a:lnTo>
                  <a:pt x="0" y="0"/>
                </a:lnTo>
                <a:lnTo>
                  <a:pt x="1380200" y="0"/>
                </a:lnTo>
                <a:lnTo>
                  <a:pt x="1380200" y="2213147"/>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13996447" y="1010671"/>
            <a:ext cx="1380199" cy="2213148"/>
          </a:xfrm>
          <a:custGeom>
            <a:avLst/>
            <a:gdLst/>
            <a:ahLst/>
            <a:cxnLst/>
            <a:rect r="r" b="b" t="t" l="l"/>
            <a:pathLst>
              <a:path h="2213148" w="1380199">
                <a:moveTo>
                  <a:pt x="0" y="0"/>
                </a:moveTo>
                <a:lnTo>
                  <a:pt x="1380200" y="0"/>
                </a:lnTo>
                <a:lnTo>
                  <a:pt x="1380200" y="2213147"/>
                </a:lnTo>
                <a:lnTo>
                  <a:pt x="0" y="2213147"/>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3178078" y="1010671"/>
            <a:ext cx="1380199" cy="2213148"/>
          </a:xfrm>
          <a:custGeom>
            <a:avLst/>
            <a:gdLst/>
            <a:ahLst/>
            <a:cxnLst/>
            <a:rect r="r" b="b" t="t" l="l"/>
            <a:pathLst>
              <a:path h="2213148" w="1380199">
                <a:moveTo>
                  <a:pt x="0" y="0"/>
                </a:moveTo>
                <a:lnTo>
                  <a:pt x="1380199" y="0"/>
                </a:lnTo>
                <a:lnTo>
                  <a:pt x="1380199" y="2213147"/>
                </a:lnTo>
                <a:lnTo>
                  <a:pt x="0" y="2213147"/>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770049" y="1563916"/>
            <a:ext cx="6747903" cy="1144862"/>
          </a:xfrm>
          <a:prstGeom prst="rect">
            <a:avLst/>
          </a:prstGeom>
        </p:spPr>
        <p:txBody>
          <a:bodyPr anchor="t" rtlCol="false" tIns="0" lIns="0" bIns="0" rIns="0">
            <a:spAutoFit/>
          </a:bodyPr>
          <a:lstStyle/>
          <a:p>
            <a:pPr algn="ctr">
              <a:lnSpc>
                <a:spcPts val="8969"/>
              </a:lnSpc>
            </a:pPr>
            <a:r>
              <a:rPr lang="en-US" b="true" sz="7800" spc="-234">
                <a:solidFill>
                  <a:srgbClr val="007043"/>
                </a:solidFill>
                <a:latin typeface="Anantason Condensed Bold"/>
                <a:ea typeface="Anantason Condensed Bold"/>
                <a:cs typeface="Anantason Condensed Bold"/>
                <a:sym typeface="Anantason Condensed Bold"/>
              </a:rPr>
              <a:t>KESIMPULAN</a:t>
            </a:r>
          </a:p>
        </p:txBody>
      </p:sp>
      <p:sp>
        <p:nvSpPr>
          <p:cNvPr name="TextBox 8" id="8"/>
          <p:cNvSpPr txBox="true"/>
          <p:nvPr/>
        </p:nvSpPr>
        <p:spPr>
          <a:xfrm rot="0">
            <a:off x="1442878" y="4466038"/>
            <a:ext cx="15402244" cy="3106420"/>
          </a:xfrm>
          <a:prstGeom prst="rect">
            <a:avLst/>
          </a:prstGeom>
        </p:spPr>
        <p:txBody>
          <a:bodyPr anchor="t" rtlCol="false" tIns="0" lIns="0" bIns="0" rIns="0">
            <a:spAutoFit/>
          </a:bodyPr>
          <a:lstStyle/>
          <a:p>
            <a:pPr algn="just">
              <a:lnSpc>
                <a:spcPts val="3079"/>
              </a:lnSpc>
            </a:pPr>
            <a:r>
              <a:rPr lang="en-US" sz="2199">
                <a:solidFill>
                  <a:srgbClr val="434343"/>
                </a:solidFill>
                <a:latin typeface="Inter"/>
                <a:ea typeface="Inter"/>
                <a:cs typeface="Inter"/>
                <a:sym typeface="Inter"/>
              </a:rPr>
              <a:t>Analisis terhadap BTC, ETH, dan BNB menunjukkan bahwa ketiganya berada dalam tren naik selama periode pengamatan, dengan BTC sebagai penggerak utama pasar. ETH memberikan return tertinggi namun juga memiliki volatilitas paling besar, sementara BNB cenderung lebih stabil. Perhitungan statistik dan grafik return mengonfirmasi bahwa fluktuasi harga crypto masih tinggi, terutama pada aset yang lebih agresif. Scatter plot menunjukkan korelasi yang kuat antara BTC dan ETH, menandakan bahwa pergerakan ETH sangat dipengaruhi oleh pergerakan BTC. Secara keseluruhan, data OHLC terbukti membantu dalam memahami tren, mengukur risiko, melihat hubungan antar aset, serta mengidentifikasi peluang beli dan jual untuk mendukung keputusan analisis dan strategi investasi.</a:t>
            </a:r>
          </a:p>
          <a:p>
            <a:pPr algn="just">
              <a:lnSpc>
                <a:spcPts val="307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DAG41icsu2E</dc:identifier>
  <dcterms:modified xsi:type="dcterms:W3CDTF">2011-08-01T06:04:30Z</dcterms:modified>
  <cp:revision>1</cp:revision>
  <dc:title>Report_Beauty Insyiroh Nusuvul Layli</dc:title>
</cp:coreProperties>
</file>